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Century Gothic" panose="020B0502020202020204" pitchFamily="34" charset="0"/>
      <p:regular r:id="rId21"/>
      <p:bold r:id="rId22"/>
      <p:italic r:id="rId23"/>
      <p:boldItalic r:id="rId24"/>
    </p:embeddedFont>
    <p:embeddedFont>
      <p:font typeface="Roboto Condensed" panose="020B0604020202020204" charset="0"/>
      <p:bold r:id="rId25"/>
      <p:boldItalic r:id="rId26"/>
    </p:embeddedFont>
    <p:embeddedFont>
      <p:font typeface="Teko" panose="020B0604020202020204" charset="0"/>
      <p:regular r:id="rId27"/>
      <p:bold r:id="rId28"/>
    </p:embeddedFont>
    <p:embeddedFont>
      <p:font typeface="Quicksand" panose="020B0604020202020204" charset="0"/>
      <p:regular r:id="rId29"/>
      <p:bold r:id="rId30"/>
    </p:embeddedFont>
    <p:embeddedFont>
      <p:font typeface="Calibri" panose="020F0502020204030204" pitchFamily="34"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hX7US4KSGHYDcWdaCDj/kleX6AN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1458D1D-8245-40D1-950D-EE645A773D64}">
  <a:tblStyle styleId="{31458D1D-8245-40D1-950D-EE645A773D6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775" autoAdjust="0"/>
  </p:normalViewPr>
  <p:slideViewPr>
    <p:cSldViewPr snapToGrid="0">
      <p:cViewPr varScale="1">
        <p:scale>
          <a:sx n="41" d="100"/>
          <a:sy n="41" d="100"/>
        </p:scale>
        <p:origin x="1402" y="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tableStyles" Target="tableStyles.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096036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This is the title page. It has the name of your company, and a one line description of what you do. </a:t>
            </a:r>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r>
              <a:rPr lang="en-US">
                <a:solidFill>
                  <a:schemeClr val="dk1"/>
                </a:solidFill>
              </a:rPr>
              <a:t>Announce your big idea. The one thing you do better than anyone else. You have 10 seconds to engage your audience i.e. the judges.</a:t>
            </a: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1729928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i="0"/>
              <a:t>Why does your company exist?</a:t>
            </a:r>
            <a:r>
              <a:rPr lang="en-US" i="0"/>
              <a:t/>
            </a:r>
            <a:br>
              <a:rPr lang="en-US" i="0"/>
            </a:br>
            <a:r>
              <a:rPr lang="en-US" i="0"/>
              <a:t>What core problem or need in the world are you solving, and why is it important to you?</a:t>
            </a:r>
            <a:endParaRPr/>
          </a:p>
          <a:p>
            <a:pPr marL="0" lvl="0" indent="0" algn="l" rtl="0">
              <a:spcBef>
                <a:spcPts val="0"/>
              </a:spcBef>
              <a:spcAft>
                <a:spcPts val="0"/>
              </a:spcAft>
              <a:buNone/>
            </a:pPr>
            <a:endParaRPr i="0"/>
          </a:p>
          <a:p>
            <a:pPr marL="0" lvl="0" indent="0" algn="l" rtl="0">
              <a:spcBef>
                <a:spcPts val="0"/>
              </a:spcBef>
              <a:spcAft>
                <a:spcPts val="0"/>
              </a:spcAft>
              <a:buNone/>
            </a:pPr>
            <a:r>
              <a:rPr lang="en-US" b="1" i="0"/>
              <a:t>How will you transform the industry or vertical you're operating in?</a:t>
            </a:r>
            <a:r>
              <a:rPr lang="en-US" i="0"/>
              <a:t/>
            </a:r>
            <a:br>
              <a:rPr lang="en-US" i="0"/>
            </a:br>
            <a:r>
              <a:rPr lang="en-US" i="0"/>
              <a:t>What lasting changes will your company bring to your industry, and how will it stand out over time?</a:t>
            </a:r>
            <a:endParaRPr/>
          </a:p>
          <a:p>
            <a:pPr marL="0" lvl="0" indent="0" algn="l" rtl="0">
              <a:spcBef>
                <a:spcPts val="0"/>
              </a:spcBef>
              <a:spcAft>
                <a:spcPts val="0"/>
              </a:spcAft>
              <a:buNone/>
            </a:pPr>
            <a:endParaRPr b="1" i="0"/>
          </a:p>
          <a:p>
            <a:pPr marL="0" lvl="0" indent="0" algn="l" rtl="0">
              <a:spcBef>
                <a:spcPts val="0"/>
              </a:spcBef>
              <a:spcAft>
                <a:spcPts val="0"/>
              </a:spcAft>
              <a:buNone/>
            </a:pPr>
            <a:r>
              <a:rPr lang="en-US" b="1" i="0"/>
              <a:t>What positive impact will your product(s) and solution(s) create for the world at large?</a:t>
            </a:r>
            <a:r>
              <a:rPr lang="en-US" i="0"/>
              <a:t/>
            </a:r>
            <a:br>
              <a:rPr lang="en-US" i="0"/>
            </a:br>
            <a:endParaRPr i="0"/>
          </a:p>
          <a:p>
            <a:pPr marL="0" lvl="0" indent="0" algn="l" rtl="0">
              <a:spcBef>
                <a:spcPts val="0"/>
              </a:spcBef>
              <a:spcAft>
                <a:spcPts val="0"/>
              </a:spcAft>
              <a:buNone/>
            </a:pPr>
            <a:r>
              <a:rPr lang="en-US" i="0"/>
              <a:t>How does your solution benefit not just your customers, but society, and how does it align with a greater purpose?</a:t>
            </a:r>
            <a:endParaRPr/>
          </a:p>
          <a:p>
            <a:pPr marL="0" lvl="0" indent="0" algn="l" rtl="0">
              <a:spcBef>
                <a:spcPts val="0"/>
              </a:spcBef>
              <a:spcAft>
                <a:spcPts val="0"/>
              </a:spcAft>
              <a:buNone/>
            </a:pPr>
            <a:endParaRPr/>
          </a:p>
        </p:txBody>
      </p:sp>
      <p:sp>
        <p:nvSpPr>
          <p:cNvPr id="104" name="Google Shape;10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3475743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Actual vs Forecasted</a:t>
            </a:r>
            <a:endParaRPr b="1" dirty="0"/>
          </a:p>
        </p:txBody>
      </p:sp>
      <p:sp>
        <p:nvSpPr>
          <p:cNvPr id="129" name="Google Shape;12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2925146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Problem</a:t>
            </a:r>
            <a:endParaRPr b="1" dirty="0"/>
          </a:p>
          <a:p>
            <a:pPr marL="0" lvl="0" indent="0" algn="l" rtl="0">
              <a:spcBef>
                <a:spcPts val="0"/>
              </a:spcBef>
              <a:spcAft>
                <a:spcPts val="0"/>
              </a:spcAft>
              <a:buNone/>
            </a:pPr>
            <a:endParaRPr lang="en-US" dirty="0" smtClean="0"/>
          </a:p>
          <a:p>
            <a:pPr marL="0" lvl="0" indent="0" algn="l" rtl="0">
              <a:spcBef>
                <a:spcPts val="0"/>
              </a:spcBef>
              <a:spcAft>
                <a:spcPts val="0"/>
              </a:spcAft>
              <a:buNone/>
            </a:pPr>
            <a:r>
              <a:rPr lang="en-US" dirty="0" smtClean="0"/>
              <a:t>What </a:t>
            </a:r>
            <a:r>
              <a:rPr lang="en-US" dirty="0"/>
              <a:t>specific problem are you solving for your customer?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Describe the pain or problem that you are alleviating or the pleasure you are providing to improve the quality of life of your customer/ client/ beneficiary.</a:t>
            </a:r>
            <a:endParaRPr dirty="0"/>
          </a:p>
          <a:p>
            <a:pPr marL="0" lvl="0" indent="0" algn="l" rtl="0">
              <a:spcBef>
                <a:spcPts val="0"/>
              </a:spcBef>
              <a:spcAft>
                <a:spcPts val="0"/>
              </a:spcAft>
              <a:buNone/>
            </a:pPr>
            <a:r>
              <a:rPr lang="en-US" dirty="0"/>
              <a:t>This is where you clearly state the problem. </a:t>
            </a:r>
            <a:r>
              <a:rPr lang="en-US" dirty="0">
                <a:solidFill>
                  <a:schemeClr val="dk1"/>
                </a:solidFill>
              </a:rPr>
              <a:t>Who you are solving it for, and the reasons why your target customer/users are frustrated with current solutions. </a:t>
            </a:r>
            <a:r>
              <a:rPr lang="en-US" dirty="0"/>
              <a:t>This is where you clearly state the problem. Who you are solving it for, and the reasons why your target customer/users are frustrated with current solutions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Each customer segment (CS) you are considering working with will have a set of problems that need solving. In this box try listing the one to three high-priority problems that your CS has. Without a problem to solve, you don’t have a product/service to offer.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There are 4 types of pain points that customers are looking a solution for: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b="1" i="0" u="none" strike="noStrike" dirty="0">
                <a:solidFill>
                  <a:schemeClr val="dk1"/>
                </a:solidFill>
                <a:latin typeface="Calibri"/>
                <a:ea typeface="Calibri"/>
                <a:cs typeface="Calibri"/>
                <a:sym typeface="Calibri"/>
              </a:rPr>
              <a:t>Financial Pain Points: </a:t>
            </a:r>
            <a:r>
              <a:rPr lang="en-US" sz="1200" b="0" i="0" u="none" strike="noStrike" dirty="0">
                <a:solidFill>
                  <a:schemeClr val="dk1"/>
                </a:solidFill>
                <a:latin typeface="Calibri"/>
                <a:ea typeface="Calibri"/>
                <a:cs typeface="Calibri"/>
                <a:sym typeface="Calibri"/>
              </a:rPr>
              <a:t>Your prospects (potential customers)  are spending too much money on their current provider/solution/products and want to reduce their spend</a:t>
            </a:r>
            <a:r>
              <a:rPr lang="en-US" b="0" dirty="0"/>
              <a:t/>
            </a:r>
            <a:br>
              <a:rPr lang="en-US" b="0" dirty="0"/>
            </a:br>
            <a:r>
              <a:rPr lang="en-US" sz="1200" b="1" i="0" u="none" strike="noStrike" dirty="0">
                <a:solidFill>
                  <a:schemeClr val="dk1"/>
                </a:solidFill>
                <a:latin typeface="Calibri"/>
                <a:ea typeface="Calibri"/>
                <a:cs typeface="Calibri"/>
                <a:sym typeface="Calibri"/>
              </a:rPr>
              <a:t>Productivity Pain Points: </a:t>
            </a:r>
            <a:r>
              <a:rPr lang="en-US" sz="1200" b="0" i="0" u="none" strike="noStrike" dirty="0">
                <a:solidFill>
                  <a:schemeClr val="dk1"/>
                </a:solidFill>
                <a:latin typeface="Calibri"/>
                <a:ea typeface="Calibri"/>
                <a:cs typeface="Calibri"/>
                <a:sym typeface="Calibri"/>
              </a:rPr>
              <a:t>Your prospects are wasting too much time using their current provider/solution/products or want to use their time more efficiently</a:t>
            </a:r>
            <a:r>
              <a:rPr lang="en-US" b="0" dirty="0"/>
              <a:t/>
            </a:r>
            <a:br>
              <a:rPr lang="en-US" b="0" dirty="0"/>
            </a:br>
            <a:r>
              <a:rPr lang="en-US" sz="1200" b="1" i="0" u="none" strike="noStrike" dirty="0">
                <a:solidFill>
                  <a:schemeClr val="dk1"/>
                </a:solidFill>
                <a:latin typeface="Calibri"/>
                <a:ea typeface="Calibri"/>
                <a:cs typeface="Calibri"/>
                <a:sym typeface="Calibri"/>
              </a:rPr>
              <a:t>Process Pain Points: </a:t>
            </a:r>
            <a:r>
              <a:rPr lang="en-US" sz="1200" b="0" i="0" u="none" strike="noStrike" dirty="0">
                <a:solidFill>
                  <a:schemeClr val="dk1"/>
                </a:solidFill>
                <a:latin typeface="Calibri"/>
                <a:ea typeface="Calibri"/>
                <a:cs typeface="Calibri"/>
                <a:sym typeface="Calibri"/>
              </a:rPr>
              <a:t>Your prospects want to improve internal processes, such as assigning leads to sales reps or nurturing lower-priority leads</a:t>
            </a:r>
            <a:r>
              <a:rPr lang="en-US" b="0" dirty="0"/>
              <a:t/>
            </a:r>
            <a:br>
              <a:rPr lang="en-US" b="0" dirty="0"/>
            </a:br>
            <a:r>
              <a:rPr lang="en-US" sz="1200" b="1" i="0" u="none" strike="noStrike" dirty="0">
                <a:solidFill>
                  <a:schemeClr val="dk1"/>
                </a:solidFill>
                <a:latin typeface="Calibri"/>
                <a:ea typeface="Calibri"/>
                <a:cs typeface="Calibri"/>
                <a:sym typeface="Calibri"/>
              </a:rPr>
              <a:t>Support Pain Points: </a:t>
            </a:r>
            <a:r>
              <a:rPr lang="en-US" sz="1200" b="0" i="0" u="none" strike="noStrike" dirty="0">
                <a:solidFill>
                  <a:schemeClr val="dk1"/>
                </a:solidFill>
                <a:latin typeface="Calibri"/>
                <a:ea typeface="Calibri"/>
                <a:cs typeface="Calibri"/>
                <a:sym typeface="Calibri"/>
              </a:rPr>
              <a:t>Your prospects aren’t receiving the support they need at critical stages of the customer journey or sales process</a:t>
            </a:r>
            <a:endParaRPr b="0" dirty="0"/>
          </a:p>
          <a:p>
            <a:pPr marL="0" lvl="0" indent="0" algn="l" rtl="0">
              <a:spcBef>
                <a:spcPts val="0"/>
              </a:spcBef>
              <a:spcAft>
                <a:spcPts val="0"/>
              </a:spcAft>
              <a:buNone/>
            </a:pPr>
            <a:endParaRPr dirty="0"/>
          </a:p>
        </p:txBody>
      </p:sp>
      <p:sp>
        <p:nvSpPr>
          <p:cNvPr id="141" name="Google Shape;141;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4290510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Product Readiness Level </a:t>
            </a:r>
            <a:r>
              <a:rPr lang="en-US" dirty="0"/>
              <a:t/>
            </a:r>
            <a:br>
              <a:rPr lang="en-US" dirty="0"/>
            </a:br>
            <a:endParaRPr lang="en-US" dirty="0" smtClean="0"/>
          </a:p>
          <a:p>
            <a:pPr marL="0" lvl="0" indent="0" algn="l" rtl="0">
              <a:spcBef>
                <a:spcPts val="0"/>
              </a:spcBef>
              <a:spcAft>
                <a:spcPts val="0"/>
              </a:spcAft>
              <a:buNone/>
            </a:pPr>
            <a:r>
              <a:rPr lang="en-US" b="1" dirty="0" smtClean="0"/>
              <a:t>Solution</a:t>
            </a:r>
            <a:r>
              <a:rPr lang="en-US" dirty="0" smtClean="0"/>
              <a:t> </a:t>
            </a:r>
            <a:r>
              <a:rPr lang="en-US" dirty="0"/>
              <a:t> </a:t>
            </a:r>
            <a:br>
              <a:rPr lang="en-US" dirty="0"/>
            </a:br>
            <a:r>
              <a:rPr lang="en-US" dirty="0"/>
              <a:t/>
            </a:r>
            <a:br>
              <a:rPr lang="en-US" dirty="0"/>
            </a:br>
            <a:r>
              <a:rPr lang="en-US" dirty="0"/>
              <a:t>What is the minimum viable product (MVP) that embodies your UVP? </a:t>
            </a:r>
            <a:endParaRPr dirty="0"/>
          </a:p>
          <a:p>
            <a:pPr marL="0" lvl="0" indent="0" algn="l" rtl="0">
              <a:spcBef>
                <a:spcPts val="0"/>
              </a:spcBef>
              <a:spcAft>
                <a:spcPts val="0"/>
              </a:spcAft>
              <a:buNone/>
            </a:pPr>
            <a:r>
              <a:rPr lang="en-US" dirty="0">
                <a:solidFill>
                  <a:schemeClr val="dk1"/>
                </a:solidFill>
              </a:rPr>
              <a:t>Product or Service MVP : What your product or service is and how it works in three simple steps. </a:t>
            </a:r>
            <a:endParaRPr dirty="0"/>
          </a:p>
          <a:p>
            <a:pPr marL="0" lvl="0" indent="0" algn="l" rtl="0">
              <a:spcBef>
                <a:spcPts val="0"/>
              </a:spcBef>
              <a:spcAft>
                <a:spcPts val="0"/>
              </a:spcAft>
              <a:buNone/>
            </a:pPr>
            <a:r>
              <a:rPr lang="en-US" dirty="0">
                <a:solidFill>
                  <a:schemeClr val="dk1"/>
                </a:solidFill>
              </a:rPr>
              <a:t>Show screenshots/mockups of the product if possible </a:t>
            </a:r>
            <a:endParaRPr dirty="0"/>
          </a:p>
        </p:txBody>
      </p:sp>
      <p:sp>
        <p:nvSpPr>
          <p:cNvPr id="171" name="Google Shape;17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074733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smtClean="0"/>
              <a:t>Product </a:t>
            </a:r>
            <a:r>
              <a:rPr lang="en-US" b="1" dirty="0"/>
              <a:t>Readiness Level </a:t>
            </a:r>
            <a:endParaRPr lang="en-US" b="1" dirty="0" smtClean="0"/>
          </a:p>
          <a:p>
            <a:pPr marL="0" lvl="0" indent="0" algn="l" rtl="0">
              <a:spcBef>
                <a:spcPts val="0"/>
              </a:spcBef>
              <a:spcAft>
                <a:spcPts val="0"/>
              </a:spcAft>
              <a:buNone/>
            </a:pPr>
            <a:endParaRPr lang="en-US" b="1" dirty="0" smtClean="0"/>
          </a:p>
          <a:p>
            <a:pPr marL="0" lvl="0" indent="0" algn="l" rtl="0">
              <a:spcBef>
                <a:spcPts val="0"/>
              </a:spcBef>
              <a:spcAft>
                <a:spcPts val="0"/>
              </a:spcAft>
              <a:buNone/>
            </a:pPr>
            <a:r>
              <a:rPr lang="en-US" b="1" dirty="0" smtClean="0"/>
              <a:t>Tech-stack</a:t>
            </a:r>
            <a:r>
              <a:rPr lang="en-US" b="1" baseline="0" dirty="0" smtClean="0"/>
              <a:t> and product roadmap</a:t>
            </a:r>
            <a:endParaRPr b="1" dirty="0"/>
          </a:p>
        </p:txBody>
      </p:sp>
      <p:sp>
        <p:nvSpPr>
          <p:cNvPr id="201" name="Google Shape;20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701277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t>Customer Segments</a:t>
            </a:r>
            <a:r>
              <a:rPr lang="en-US" dirty="0"/>
              <a:t/>
            </a:r>
            <a:br>
              <a:rPr lang="en-US" dirty="0"/>
            </a:br>
            <a:endParaRPr lang="en-US" dirty="0" smtClean="0"/>
          </a:p>
          <a:p>
            <a:pPr marL="0" marR="0" lvl="0" indent="0" algn="l" rtl="0">
              <a:lnSpc>
                <a:spcPct val="100000"/>
              </a:lnSpc>
              <a:spcBef>
                <a:spcPts val="0"/>
              </a:spcBef>
              <a:spcAft>
                <a:spcPts val="0"/>
              </a:spcAft>
              <a:buClr>
                <a:schemeClr val="dk1"/>
              </a:buClr>
              <a:buSzPts val="1200"/>
              <a:buFont typeface="Calibri"/>
              <a:buNone/>
            </a:pPr>
            <a:r>
              <a:rPr lang="en-US" dirty="0" smtClean="0"/>
              <a:t>Who </a:t>
            </a:r>
            <a:r>
              <a:rPr lang="en-US" dirty="0"/>
              <a:t>are the specific groups of people experiencing this problem? </a:t>
            </a:r>
            <a:endParaRPr dirty="0"/>
          </a:p>
          <a:p>
            <a:pPr marL="0" marR="0" lvl="0" indent="0" algn="l" rtl="0">
              <a:lnSpc>
                <a:spcPct val="100000"/>
              </a:lnSpc>
              <a:spcBef>
                <a:spcPts val="0"/>
              </a:spcBef>
              <a:spcAft>
                <a:spcPts val="0"/>
              </a:spcAft>
              <a:buClr>
                <a:schemeClr val="dk1"/>
              </a:buClr>
              <a:buSzPts val="1200"/>
              <a:buFont typeface="Calibri"/>
              <a:buNone/>
            </a:pPr>
            <a:endParaRPr dirty="0"/>
          </a:p>
          <a:p>
            <a:pPr marL="0" marR="0" lvl="0" indent="0" algn="l" rtl="0">
              <a:lnSpc>
                <a:spcPct val="100000"/>
              </a:lnSpc>
              <a:spcBef>
                <a:spcPts val="0"/>
              </a:spcBef>
              <a:spcAft>
                <a:spcPts val="0"/>
              </a:spcAft>
              <a:buClr>
                <a:schemeClr val="dk1"/>
              </a:buClr>
              <a:buSzPts val="1200"/>
              <a:buFont typeface="Calibri"/>
              <a:buNone/>
            </a:pPr>
            <a:endParaRPr dirty="0"/>
          </a:p>
        </p:txBody>
      </p:sp>
      <p:sp>
        <p:nvSpPr>
          <p:cNvPr id="230" name="Google Shape;23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748385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smtClean="0"/>
              <a:t>Market Sizing</a:t>
            </a:r>
          </a:p>
          <a:p>
            <a:pPr marL="0" lvl="0" indent="0" algn="l" rtl="0">
              <a:spcBef>
                <a:spcPts val="0"/>
              </a:spcBef>
              <a:spcAft>
                <a:spcPts val="0"/>
              </a:spcAft>
              <a:buNone/>
            </a:pPr>
            <a:endParaRPr lang="en-US" b="1" dirty="0" smtClean="0"/>
          </a:p>
          <a:p>
            <a:pPr marL="0" lvl="0" indent="0" algn="l" rtl="0">
              <a:spcBef>
                <a:spcPts val="0"/>
              </a:spcBef>
              <a:spcAft>
                <a:spcPts val="0"/>
              </a:spcAft>
              <a:buNone/>
            </a:pPr>
            <a:r>
              <a:rPr lang="en-US" b="1" dirty="0" smtClean="0"/>
              <a:t>TAM </a:t>
            </a:r>
            <a:r>
              <a:rPr lang="en-US" b="1" dirty="0"/>
              <a:t>(Total Addressable Market): </a:t>
            </a:r>
            <a:r>
              <a:rPr lang="en-US" dirty="0"/>
              <a:t>The maximum potential demand of a specific market. TAM refers to the total market demand for a product or service. It’s the maximum amount of revenue a business can generate by selling its product or service in a specific market. TAM is most useful for businesses to objectively estimate a specific market’s potential for growth. This data also helps companies figure out product market fit. </a:t>
            </a:r>
            <a:endParaRPr dirty="0"/>
          </a:p>
          <a:p>
            <a:pPr marL="0" lvl="0" indent="0" algn="l" rtl="0">
              <a:spcBef>
                <a:spcPts val="0"/>
              </a:spcBef>
              <a:spcAft>
                <a:spcPts val="0"/>
              </a:spcAft>
              <a:buNone/>
            </a:pPr>
            <a:endParaRPr b="1" dirty="0"/>
          </a:p>
          <a:p>
            <a:pPr marL="0" marR="0" lvl="0" indent="0" algn="l" rtl="0">
              <a:lnSpc>
                <a:spcPct val="100000"/>
              </a:lnSpc>
              <a:spcBef>
                <a:spcPts val="0"/>
              </a:spcBef>
              <a:spcAft>
                <a:spcPts val="0"/>
              </a:spcAft>
              <a:buClr>
                <a:schemeClr val="dk1"/>
              </a:buClr>
              <a:buSzPts val="1200"/>
              <a:buFont typeface="Calibri"/>
              <a:buNone/>
            </a:pPr>
            <a:r>
              <a:rPr lang="en-US" b="1" dirty="0"/>
              <a:t>SAM (Serviceable Addressable Market): </a:t>
            </a:r>
            <a:r>
              <a:rPr lang="en-US" dirty="0"/>
              <a:t>The size of the TAM you can reasonably target as you build your audience. Due to the limitations of your business model, which might include your specialization or geographic limitations, among other variables, you’ll have a tough time servicing your total addressable market. SAM is a segment of TAM you can use to identify the addressable potential of a market segment, or the amount you can realistically market to, making it easier to estimate revenue and audience targets. SAM is most useful for businesses to objectively estimate the part of the market they can acquire to figure out their targets.</a:t>
            </a:r>
            <a:endParaRPr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SOM (Serviceable Obtainable Market): </a:t>
            </a:r>
            <a:r>
              <a:rPr lang="en-US" dirty="0"/>
              <a:t>The size of the SAM you can potentially convert. Unless you're a monopoly, you most likely can’t capture 100% of your serviceable addressable market. Even if you only have one competitor, it would still be extremely difficult to convince an entire market to only buy your product or service. That’s why it’s crucial to measure your serviceable obtainable market to estimate how many customers would realistically benefit from buying your product or service.</a:t>
            </a:r>
            <a:endParaRPr dirty="0"/>
          </a:p>
        </p:txBody>
      </p:sp>
      <p:sp>
        <p:nvSpPr>
          <p:cNvPr id="263" name="Google Shape;26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193297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Value Proposition Readiness Level </a:t>
            </a:r>
            <a:endParaRPr b="1" dirty="0"/>
          </a:p>
          <a:p>
            <a:pPr marL="0" lvl="0" indent="0" algn="l" rtl="0">
              <a:spcBef>
                <a:spcPts val="0"/>
              </a:spcBef>
              <a:spcAft>
                <a:spcPts val="0"/>
              </a:spcAft>
              <a:buNone/>
            </a:pPr>
            <a:endParaRPr dirty="0"/>
          </a:p>
          <a:p>
            <a:pPr marL="0" lvl="0" indent="0" algn="l" rtl="0">
              <a:spcBef>
                <a:spcPts val="0"/>
              </a:spcBef>
              <a:spcAft>
                <a:spcPts val="0"/>
              </a:spcAft>
              <a:buNone/>
            </a:pPr>
            <a:r>
              <a:rPr lang="en-US" dirty="0"/>
              <a:t>Unique Value Proposition (UVP)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 value proposition is a promise of value to be delivered. It’s the primary reason a prospect should buy from you. </a:t>
            </a: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A way to get your head around this is to think why are you different and why should your customer buy from you? </a:t>
            </a:r>
            <a:endParaRPr dirty="0"/>
          </a:p>
        </p:txBody>
      </p:sp>
      <p:sp>
        <p:nvSpPr>
          <p:cNvPr id="292" name="Google Shape;29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987300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40004"/>
              </a:lnSpc>
              <a:spcBef>
                <a:spcPts val="0"/>
              </a:spcBef>
              <a:spcAft>
                <a:spcPts val="0"/>
              </a:spcAft>
              <a:buNone/>
            </a:pPr>
            <a:r>
              <a:rPr lang="en-US" sz="1200" b="1" dirty="0" smtClean="0">
                <a:solidFill>
                  <a:srgbClr val="191919"/>
                </a:solidFill>
                <a:latin typeface="Roboto Condensed"/>
                <a:ea typeface="Roboto Condensed"/>
                <a:cs typeface="Roboto Condensed"/>
                <a:sym typeface="Roboto Condensed"/>
              </a:rPr>
              <a:t>Competitor Analysis / Existing Alternatives</a:t>
            </a:r>
            <a:endParaRPr lang="en-US" dirty="0"/>
          </a:p>
        </p:txBody>
      </p:sp>
      <p:sp>
        <p:nvSpPr>
          <p:cNvPr id="321" name="Google Shape;32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212169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Market Readiness Level </a:t>
            </a:r>
            <a:endParaRPr b="1"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Channels </a:t>
            </a:r>
            <a:endParaRPr b="1" dirty="0"/>
          </a:p>
          <a:p>
            <a:pPr marL="0" lvl="0" indent="0" algn="l" rtl="0">
              <a:spcBef>
                <a:spcPts val="0"/>
              </a:spcBef>
              <a:spcAft>
                <a:spcPts val="0"/>
              </a:spcAft>
              <a:buNone/>
            </a:pPr>
            <a:endParaRPr dirty="0"/>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Channels can be email, social, CPC ads, blogs, articles, trade shows, radio &amp; TV, webinars, cold calling potential customers, networking with organizations and associations, testimonials/ evangelical marketing, Affiliate marketing, Advertising, SEO, and SEM. etc. </a:t>
            </a:r>
            <a:endParaRPr dirty="0"/>
          </a:p>
          <a:p>
            <a:pPr marL="0" lvl="0" indent="0" algn="l" rtl="0">
              <a:spcBef>
                <a:spcPts val="0"/>
              </a:spcBef>
              <a:spcAft>
                <a:spcPts val="0"/>
              </a:spcAft>
              <a:buNone/>
            </a:pPr>
            <a:endParaRPr sz="1200" b="0" i="0" u="none" strike="noStrike"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u="none" strike="noStrike" dirty="0">
                <a:solidFill>
                  <a:schemeClr val="dk1"/>
                </a:solidFill>
                <a:latin typeface="Calibri"/>
                <a:ea typeface="Calibri"/>
                <a:cs typeface="Calibri"/>
                <a:sym typeface="Calibri"/>
              </a:rPr>
              <a:t>Identify the marketing channels from which you can capture customers/ clients / users</a:t>
            </a:r>
            <a:r>
              <a:rPr lang="en-US" sz="1200" b="0" i="0" u="none" strike="noStrike" dirty="0" smtClean="0">
                <a:solidFill>
                  <a:schemeClr val="dk1"/>
                </a:solidFill>
                <a:latin typeface="Calibri"/>
                <a:ea typeface="Calibri"/>
                <a:cs typeface="Calibri"/>
                <a:sym typeface="Calibri"/>
              </a:rPr>
              <a:t>.</a:t>
            </a:r>
            <a:endParaRPr b="0" dirty="0"/>
          </a:p>
        </p:txBody>
      </p:sp>
      <p:sp>
        <p:nvSpPr>
          <p:cNvPr id="350" name="Google Shape;35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522829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Business Model Readiness Level </a:t>
            </a:r>
            <a:br>
              <a:rPr lang="en-US" b="1" dirty="0"/>
            </a:br>
            <a:r>
              <a:rPr lang="en-US" b="1" dirty="0"/>
              <a:t/>
            </a:r>
            <a:br>
              <a:rPr lang="en-US" b="1" dirty="0"/>
            </a:br>
            <a:r>
              <a:rPr lang="en-US" b="1" dirty="0" smtClean="0"/>
              <a:t>Revenue </a:t>
            </a:r>
            <a:r>
              <a:rPr lang="en-US" b="1" dirty="0"/>
              <a:t>Streams </a:t>
            </a:r>
            <a:endParaRPr b="1" dirty="0"/>
          </a:p>
          <a:p>
            <a:pPr marL="0" lvl="0" indent="0" algn="l" rtl="0">
              <a:spcBef>
                <a:spcPts val="0"/>
              </a:spcBef>
              <a:spcAft>
                <a:spcPts val="0"/>
              </a:spcAft>
              <a:buNone/>
            </a:pPr>
            <a:r>
              <a:rPr lang="en-US" dirty="0"/>
              <a:t/>
            </a:r>
            <a:br>
              <a:rPr lang="en-US" dirty="0"/>
            </a:br>
            <a:r>
              <a:rPr lang="en-US" dirty="0"/>
              <a:t>How will you generate revenue from your solution?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solidFill>
                  <a:schemeClr val="dk1"/>
                </a:solidFill>
                <a:latin typeface="Calibri"/>
                <a:ea typeface="Calibri"/>
                <a:cs typeface="Calibri"/>
                <a:sym typeface="Calibri"/>
              </a:rPr>
              <a:t>List your sources of revenue/ Revenue Model: For example: Subscription based, transaction based, project based, services based.</a:t>
            </a:r>
            <a:endParaRPr sz="1200" dirty="0">
              <a:solidFill>
                <a:schemeClr val="dk1"/>
              </a:solidFill>
              <a:latin typeface="Calibri"/>
              <a:ea typeface="Calibri"/>
              <a:cs typeface="Calibri"/>
              <a:sym typeface="Calibri"/>
            </a:endParaRPr>
          </a:p>
        </p:txBody>
      </p:sp>
      <p:sp>
        <p:nvSpPr>
          <p:cNvPr id="379" name="Google Shape;37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526730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7" name="Google Shape;40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latin typeface="Teko"/>
                <a:ea typeface="Teko"/>
                <a:cs typeface="Teko"/>
                <a:sym typeface="Teko"/>
              </a:rPr>
              <a:t>Business Model Readiness Level </a:t>
            </a: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200"/>
              <a:buFont typeface="Calibri"/>
              <a:buNone/>
            </a:pPr>
            <a:r>
              <a:rPr lang="en-US" b="1" dirty="0"/>
              <a:t>Cost Structure </a:t>
            </a:r>
            <a:endParaRPr lang="en-US" b="1" dirty="0" smtClean="0"/>
          </a:p>
          <a:p>
            <a:pPr marL="0" lvl="0" indent="0" algn="l" rtl="0">
              <a:spcBef>
                <a:spcPts val="0"/>
              </a:spcBef>
              <a:spcAft>
                <a:spcPts val="0"/>
              </a:spcAft>
              <a:buClr>
                <a:schemeClr val="dk1"/>
              </a:buClr>
              <a:buSzPts val="1200"/>
              <a:buFont typeface="Calibri"/>
              <a:buNone/>
            </a:pPr>
            <a:endParaRPr b="1" dirty="0"/>
          </a:p>
          <a:p>
            <a:pPr marL="0" lvl="0" indent="0" algn="l" rtl="0">
              <a:spcBef>
                <a:spcPts val="0"/>
              </a:spcBef>
              <a:spcAft>
                <a:spcPts val="0"/>
              </a:spcAft>
              <a:buNone/>
            </a:pPr>
            <a:r>
              <a:rPr lang="en-US" dirty="0"/>
              <a:t>What are your most important costs associated with developing and delivering your solution? </a:t>
            </a:r>
            <a:endParaRPr dirty="0"/>
          </a:p>
        </p:txBody>
      </p:sp>
      <p:sp>
        <p:nvSpPr>
          <p:cNvPr id="408" name="Google Shape;40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125792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6" name="Google Shape;43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latin typeface="Teko"/>
                <a:ea typeface="Teko"/>
                <a:cs typeface="Teko"/>
                <a:sym typeface="Teko"/>
              </a:rPr>
              <a:t>Business Model Readiness Level </a:t>
            </a:r>
            <a:endParaRPr dirty="0"/>
          </a:p>
          <a:p>
            <a:pPr marL="0" lvl="0" indent="0" algn="l" rtl="0">
              <a:spcBef>
                <a:spcPts val="0"/>
              </a:spcBef>
              <a:spcAft>
                <a:spcPts val="0"/>
              </a:spcAft>
              <a:buNone/>
            </a:pPr>
            <a:endParaRPr lang="en-US" b="1" dirty="0" smtClean="0"/>
          </a:p>
          <a:p>
            <a:pPr marL="0" lvl="0" indent="0" algn="l" rtl="0">
              <a:spcBef>
                <a:spcPts val="0"/>
              </a:spcBef>
              <a:spcAft>
                <a:spcPts val="0"/>
              </a:spcAft>
              <a:buNone/>
            </a:pPr>
            <a:r>
              <a:rPr lang="en-US" b="1" dirty="0" smtClean="0"/>
              <a:t>Financials</a:t>
            </a:r>
          </a:p>
        </p:txBody>
      </p:sp>
      <p:sp>
        <p:nvSpPr>
          <p:cNvPr id="437" name="Google Shape;43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6026715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5" name="Google Shape;465;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Investor / Exit Readiness Level </a:t>
            </a:r>
            <a:endParaRPr b="1" dirty="0"/>
          </a:p>
          <a:p>
            <a:pPr marL="0" lvl="0" indent="0" algn="l" rtl="0">
              <a:spcBef>
                <a:spcPts val="0"/>
              </a:spcBef>
              <a:spcAft>
                <a:spcPts val="0"/>
              </a:spcAft>
              <a:buNone/>
            </a:pPr>
            <a:endParaRPr lang="en-US" b="1" dirty="0" smtClean="0"/>
          </a:p>
          <a:p>
            <a:pPr marL="0" lvl="0" indent="0" algn="l" rtl="0">
              <a:spcBef>
                <a:spcPts val="0"/>
              </a:spcBef>
              <a:spcAft>
                <a:spcPts val="0"/>
              </a:spcAft>
              <a:buNone/>
            </a:pPr>
            <a:r>
              <a:rPr lang="en-US" b="1" dirty="0" smtClean="0"/>
              <a:t>Exit </a:t>
            </a:r>
            <a:r>
              <a:rPr lang="en-US" b="1" dirty="0"/>
              <a:t>Strategy?</a:t>
            </a:r>
            <a:endParaRPr b="1" dirty="0"/>
          </a:p>
          <a:p>
            <a:pPr marL="0" lvl="0" indent="0" algn="l" rtl="0">
              <a:spcBef>
                <a:spcPts val="0"/>
              </a:spcBef>
              <a:spcAft>
                <a:spcPts val="0"/>
              </a:spcAft>
              <a:buNone/>
            </a:pPr>
            <a:endParaRPr dirty="0"/>
          </a:p>
        </p:txBody>
      </p:sp>
      <p:sp>
        <p:nvSpPr>
          <p:cNvPr id="466" name="Google Shape;466;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812514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4" name="Google Shape;494;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Scale Readiness Level </a:t>
            </a:r>
            <a:endParaRPr lang="en-US" b="1" dirty="0" smtClean="0"/>
          </a:p>
          <a:p>
            <a:pPr marL="0" lvl="0" indent="0" algn="l" rtl="0">
              <a:spcBef>
                <a:spcPts val="0"/>
              </a:spcBef>
              <a:spcAft>
                <a:spcPts val="0"/>
              </a:spcAft>
              <a:buNone/>
            </a:pPr>
            <a:endParaRPr dirty="0"/>
          </a:p>
          <a:p>
            <a:pPr marL="0" lvl="0" indent="0" algn="l" rtl="0">
              <a:spcBef>
                <a:spcPts val="0"/>
              </a:spcBef>
              <a:spcAft>
                <a:spcPts val="0"/>
              </a:spcAft>
              <a:buNone/>
            </a:pPr>
            <a:r>
              <a:rPr lang="en-US" dirty="0"/>
              <a:t>8. Key Metrics </a:t>
            </a:r>
            <a:endParaRPr dirty="0"/>
          </a:p>
          <a:p>
            <a:pPr marL="0" lvl="0" indent="0" algn="l" rtl="0">
              <a:spcBef>
                <a:spcPts val="0"/>
              </a:spcBef>
              <a:spcAft>
                <a:spcPts val="0"/>
              </a:spcAft>
              <a:buNone/>
            </a:pPr>
            <a:r>
              <a:rPr lang="en-US" dirty="0"/>
              <a:t>How will you measure the success of your startup’s business model?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For example:</a:t>
            </a:r>
            <a:endParaRPr dirty="0"/>
          </a:p>
          <a:p>
            <a:pPr marL="0" lvl="0" indent="0" algn="l" rtl="0">
              <a:spcBef>
                <a:spcPts val="0"/>
              </a:spcBef>
              <a:spcAft>
                <a:spcPts val="0"/>
              </a:spcAft>
              <a:buNone/>
            </a:pPr>
            <a:r>
              <a:rPr lang="en-US" dirty="0"/>
              <a:t>Will you be able to achieve the MRR of 500K in the next 6 months?</a:t>
            </a:r>
            <a:endParaRPr dirty="0"/>
          </a:p>
        </p:txBody>
      </p:sp>
      <p:sp>
        <p:nvSpPr>
          <p:cNvPr id="495" name="Google Shape;49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005885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4" name="Google Shape;524;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t>Team Readiness Level </a:t>
            </a:r>
            <a:endParaRPr b="1" dirty="0"/>
          </a:p>
          <a:p>
            <a:pPr marL="0" lvl="0" indent="0" algn="l" rtl="0">
              <a:spcBef>
                <a:spcPts val="0"/>
              </a:spcBef>
              <a:spcAft>
                <a:spcPts val="0"/>
              </a:spcAft>
              <a:buNone/>
            </a:pPr>
            <a:endParaRPr dirty="0"/>
          </a:p>
          <a:p>
            <a:pPr marL="0" lvl="0" indent="0" algn="l" rtl="0">
              <a:spcBef>
                <a:spcPts val="0"/>
              </a:spcBef>
              <a:spcAft>
                <a:spcPts val="0"/>
              </a:spcAft>
              <a:buNone/>
            </a:pPr>
            <a:r>
              <a:rPr lang="en-US" sz="1200" b="1" dirty="0">
                <a:latin typeface="Century Gothic"/>
                <a:ea typeface="Century Gothic"/>
                <a:cs typeface="Century Gothic"/>
                <a:sym typeface="Century Gothic"/>
              </a:rPr>
              <a:t>Define the Unfair Advantage</a:t>
            </a:r>
            <a:endParaRPr dirty="0"/>
          </a:p>
          <a:p>
            <a:pPr marL="0" lvl="0" indent="0" algn="l" rtl="0">
              <a:spcBef>
                <a:spcPts val="0"/>
              </a:spcBef>
              <a:spcAft>
                <a:spcPts val="0"/>
              </a:spcAft>
              <a:buNone/>
            </a:pPr>
            <a:endParaRPr sz="1200" dirty="0">
              <a:latin typeface="Century Gothic"/>
              <a:ea typeface="Century Gothic"/>
              <a:cs typeface="Century Gothic"/>
              <a:sym typeface="Century Gothic"/>
            </a:endParaRPr>
          </a:p>
          <a:p>
            <a:pPr marL="0" lvl="0" indent="0" algn="l" rtl="0">
              <a:spcBef>
                <a:spcPts val="0"/>
              </a:spcBef>
              <a:spcAft>
                <a:spcPts val="0"/>
              </a:spcAft>
              <a:buNone/>
            </a:pPr>
            <a:r>
              <a:rPr lang="en-US" sz="1200" dirty="0">
                <a:latin typeface="Century Gothic"/>
                <a:ea typeface="Century Gothic"/>
                <a:cs typeface="Century Gothic"/>
                <a:sym typeface="Century Gothic"/>
              </a:rPr>
              <a:t>What sets you apart from your competitors? </a:t>
            </a:r>
            <a:endParaRPr dirty="0"/>
          </a:p>
          <a:p>
            <a:pPr marL="0" lvl="0" indent="0" algn="l" rtl="0">
              <a:spcBef>
                <a:spcPts val="0"/>
              </a:spcBef>
              <a:spcAft>
                <a:spcPts val="0"/>
              </a:spcAft>
              <a:buNone/>
            </a:pPr>
            <a:endParaRPr sz="1200" dirty="0">
              <a:latin typeface="Century Gothic"/>
              <a:ea typeface="Century Gothic"/>
              <a:cs typeface="Century Gothic"/>
              <a:sym typeface="Century Gothic"/>
            </a:endParaRPr>
          </a:p>
          <a:p>
            <a:pPr marL="0" lvl="0" indent="0" algn="l" rtl="0">
              <a:spcBef>
                <a:spcPts val="0"/>
              </a:spcBef>
              <a:spcAft>
                <a:spcPts val="0"/>
              </a:spcAft>
              <a:buNone/>
            </a:pPr>
            <a:r>
              <a:rPr lang="en-US" sz="1200" dirty="0">
                <a:latin typeface="Century Gothic"/>
                <a:ea typeface="Century Gothic"/>
                <a:cs typeface="Century Gothic"/>
                <a:sym typeface="Century Gothic"/>
              </a:rPr>
              <a:t>What do you bring on the table in terms of financial resources, human resources, technical skills, knowledge and network?</a:t>
            </a:r>
            <a:endParaRPr dirty="0"/>
          </a:p>
        </p:txBody>
      </p:sp>
      <p:sp>
        <p:nvSpPr>
          <p:cNvPr id="525" name="Google Shape;525;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6341611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6" name="Google Shape;56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Linkedin Profile(s):</a:t>
            </a:r>
            <a:endParaRPr/>
          </a:p>
          <a:p>
            <a:pPr marL="0" lvl="0" indent="0" algn="l" rtl="0">
              <a:spcBef>
                <a:spcPts val="0"/>
              </a:spcBef>
              <a:spcAft>
                <a:spcPts val="0"/>
              </a:spcAft>
              <a:buNone/>
            </a:pPr>
            <a:r>
              <a:rPr lang="en-US"/>
              <a:t>Contact No. </a:t>
            </a:r>
            <a:endParaRPr/>
          </a:p>
          <a:p>
            <a:pPr marL="0" lvl="0" indent="0" algn="l" rtl="0">
              <a:spcBef>
                <a:spcPts val="0"/>
              </a:spcBef>
              <a:spcAft>
                <a:spcPts val="0"/>
              </a:spcAft>
              <a:buNone/>
            </a:pPr>
            <a:r>
              <a:rPr lang="en-US"/>
              <a:t>Social Media Handle(s) of the startup/ product: </a:t>
            </a:r>
            <a:endParaRPr/>
          </a:p>
          <a:p>
            <a:pPr marL="0" lvl="0" indent="0" algn="l" rtl="0">
              <a:spcBef>
                <a:spcPts val="0"/>
              </a:spcBef>
              <a:spcAft>
                <a:spcPts val="0"/>
              </a:spcAft>
              <a:buNone/>
            </a:pPr>
            <a:r>
              <a:rPr lang="en-US"/>
              <a:t>Website: </a:t>
            </a:r>
            <a:endParaRPr/>
          </a:p>
        </p:txBody>
      </p:sp>
      <p:sp>
        <p:nvSpPr>
          <p:cNvPr id="567" name="Google Shape;56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06666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2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2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2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2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2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8"/>
          <p:cNvSpPr>
            <a:spLocks noGrp="1"/>
          </p:cNvSpPr>
          <p:nvPr>
            <p:ph type="pic" idx="2"/>
          </p:nvPr>
        </p:nvSpPr>
        <p:spPr>
          <a:xfrm>
            <a:off x="1792288" y="612775"/>
            <a:ext cx="5486400" cy="4114800"/>
          </a:xfrm>
          <a:prstGeom prst="rect">
            <a:avLst/>
          </a:prstGeom>
          <a:noFill/>
          <a:ln>
            <a:noFill/>
          </a:ln>
        </p:spPr>
      </p:sp>
      <p:sp>
        <p:nvSpPr>
          <p:cNvPr id="68" name="Google Shape;68;p2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3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88"/>
        <p:cNvGrpSpPr/>
        <p:nvPr/>
      </p:nvGrpSpPr>
      <p:grpSpPr>
        <a:xfrm>
          <a:off x="0" y="0"/>
          <a:ext cx="0" cy="0"/>
          <a:chOff x="0" y="0"/>
          <a:chExt cx="0" cy="0"/>
        </a:xfrm>
      </p:grpSpPr>
      <p:sp>
        <p:nvSpPr>
          <p:cNvPr id="89" name="Google Shape;89;p1"/>
          <p:cNvSpPr/>
          <p:nvPr/>
        </p:nvSpPr>
        <p:spPr>
          <a:xfrm>
            <a:off x="15047759" y="3749017"/>
            <a:ext cx="3240241" cy="6504134"/>
          </a:xfrm>
          <a:custGeom>
            <a:avLst/>
            <a:gdLst/>
            <a:ahLst/>
            <a:cxnLst/>
            <a:rect l="l" t="t" r="r" b="b"/>
            <a:pathLst>
              <a:path w="3240241" h="6504134" extrusionOk="0">
                <a:moveTo>
                  <a:pt x="0" y="0"/>
                </a:moveTo>
                <a:lnTo>
                  <a:pt x="3240241" y="0"/>
                </a:lnTo>
                <a:lnTo>
                  <a:pt x="3240241" y="6504133"/>
                </a:lnTo>
                <a:lnTo>
                  <a:pt x="0" y="6504133"/>
                </a:lnTo>
                <a:lnTo>
                  <a:pt x="0" y="0"/>
                </a:lnTo>
                <a:close/>
              </a:path>
            </a:pathLst>
          </a:custGeom>
          <a:blipFill rotWithShape="1">
            <a:blip r:embed="rId3">
              <a:alphaModFix/>
            </a:blip>
            <a:stretch>
              <a:fillRect/>
            </a:stretch>
          </a:blipFill>
          <a:ln>
            <a:noFill/>
          </a:ln>
        </p:spPr>
      </p:sp>
      <p:grpSp>
        <p:nvGrpSpPr>
          <p:cNvPr id="90" name="Google Shape;90;p1"/>
          <p:cNvGrpSpPr/>
          <p:nvPr/>
        </p:nvGrpSpPr>
        <p:grpSpPr>
          <a:xfrm>
            <a:off x="13032403" y="-1520635"/>
            <a:ext cx="5255597" cy="13255940"/>
            <a:chOff x="0" y="-19050"/>
            <a:chExt cx="1384190" cy="3491277"/>
          </a:xfrm>
        </p:grpSpPr>
        <p:sp>
          <p:nvSpPr>
            <p:cNvPr id="91" name="Google Shape;91;p1"/>
            <p:cNvSpPr/>
            <p:nvPr/>
          </p:nvSpPr>
          <p:spPr>
            <a:xfrm>
              <a:off x="0" y="0"/>
              <a:ext cx="1384190" cy="3472226"/>
            </a:xfrm>
            <a:custGeom>
              <a:avLst/>
              <a:gdLst/>
              <a:ahLst/>
              <a:cxnLst/>
              <a:rect l="l" t="t" r="r" b="b"/>
              <a:pathLst>
                <a:path w="1384190" h="3472226" extrusionOk="0">
                  <a:moveTo>
                    <a:pt x="0" y="0"/>
                  </a:moveTo>
                  <a:lnTo>
                    <a:pt x="1384190" y="0"/>
                  </a:lnTo>
                  <a:lnTo>
                    <a:pt x="1384190" y="3472226"/>
                  </a:lnTo>
                  <a:lnTo>
                    <a:pt x="0" y="3472226"/>
                  </a:lnTo>
                  <a:close/>
                </a:path>
              </a:pathLst>
            </a:custGeom>
            <a:solidFill>
              <a:srgbClr val="188C8C"/>
            </a:solidFill>
            <a:ln>
              <a:noFill/>
            </a:ln>
          </p:spPr>
        </p:sp>
        <p:sp>
          <p:nvSpPr>
            <p:cNvPr id="92" name="Google Shape;92;p1"/>
            <p:cNvSpPr txBox="1"/>
            <p:nvPr/>
          </p:nvSpPr>
          <p:spPr>
            <a:xfrm>
              <a:off x="0" y="-19050"/>
              <a:ext cx="1384190" cy="3491277"/>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3" name="Google Shape;93;p1"/>
          <p:cNvSpPr/>
          <p:nvPr/>
        </p:nvSpPr>
        <p:spPr>
          <a:xfrm>
            <a:off x="9432880" y="1526000"/>
            <a:ext cx="7234999" cy="7234999"/>
          </a:xfrm>
          <a:custGeom>
            <a:avLst/>
            <a:gdLst/>
            <a:ahLst/>
            <a:cxnLst/>
            <a:rect l="l" t="t" r="r" b="b"/>
            <a:pathLst>
              <a:path w="7234999" h="7234999" extrusionOk="0">
                <a:moveTo>
                  <a:pt x="0" y="0"/>
                </a:moveTo>
                <a:lnTo>
                  <a:pt x="7234999" y="0"/>
                </a:lnTo>
                <a:lnTo>
                  <a:pt x="7234999" y="7235000"/>
                </a:lnTo>
                <a:lnTo>
                  <a:pt x="0" y="7235000"/>
                </a:lnTo>
                <a:lnTo>
                  <a:pt x="0" y="0"/>
                </a:lnTo>
                <a:close/>
              </a:path>
            </a:pathLst>
          </a:custGeom>
          <a:blipFill rotWithShape="1">
            <a:blip r:embed="rId4">
              <a:alphaModFix/>
            </a:blip>
            <a:stretch>
              <a:fillRect/>
            </a:stretch>
          </a:blipFill>
          <a:ln>
            <a:noFill/>
          </a:ln>
        </p:spPr>
      </p:sp>
      <p:sp>
        <p:nvSpPr>
          <p:cNvPr id="94" name="Google Shape;94;p1"/>
          <p:cNvSpPr/>
          <p:nvPr/>
        </p:nvSpPr>
        <p:spPr>
          <a:xfrm>
            <a:off x="10106590" y="2199722"/>
            <a:ext cx="5887580" cy="5887555"/>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 name="Google Shape;95;p1"/>
          <p:cNvGrpSpPr/>
          <p:nvPr/>
        </p:nvGrpSpPr>
        <p:grpSpPr>
          <a:xfrm>
            <a:off x="1057435" y="3417165"/>
            <a:ext cx="78988" cy="3634682"/>
            <a:chOff x="0" y="-19050"/>
            <a:chExt cx="20803" cy="957283"/>
          </a:xfrm>
        </p:grpSpPr>
        <p:sp>
          <p:nvSpPr>
            <p:cNvPr id="96" name="Google Shape;96;p1"/>
            <p:cNvSpPr/>
            <p:nvPr/>
          </p:nvSpPr>
          <p:spPr>
            <a:xfrm>
              <a:off x="0" y="0"/>
              <a:ext cx="20803" cy="938233"/>
            </a:xfrm>
            <a:custGeom>
              <a:avLst/>
              <a:gdLst/>
              <a:ahLst/>
              <a:cxnLst/>
              <a:rect l="l" t="t" r="r" b="b"/>
              <a:pathLst>
                <a:path w="20803" h="938233" extrusionOk="0">
                  <a:moveTo>
                    <a:pt x="0" y="0"/>
                  </a:moveTo>
                  <a:lnTo>
                    <a:pt x="20803" y="0"/>
                  </a:lnTo>
                  <a:lnTo>
                    <a:pt x="20803" y="938233"/>
                  </a:lnTo>
                  <a:lnTo>
                    <a:pt x="0" y="938233"/>
                  </a:lnTo>
                  <a:close/>
                </a:path>
              </a:pathLst>
            </a:custGeom>
            <a:solidFill>
              <a:srgbClr val="E2E34F"/>
            </a:solidFill>
            <a:ln>
              <a:noFill/>
            </a:ln>
          </p:spPr>
        </p:sp>
        <p:sp>
          <p:nvSpPr>
            <p:cNvPr id="97" name="Google Shape;97;p1"/>
            <p:cNvSpPr txBox="1"/>
            <p:nvPr/>
          </p:nvSpPr>
          <p:spPr>
            <a:xfrm>
              <a:off x="0" y="-19050"/>
              <a:ext cx="20803" cy="957283"/>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8" name="Google Shape;98;p1"/>
          <p:cNvSpPr txBox="1"/>
          <p:nvPr/>
        </p:nvSpPr>
        <p:spPr>
          <a:xfrm>
            <a:off x="1387521" y="3728098"/>
            <a:ext cx="7214594" cy="1231234"/>
          </a:xfrm>
          <a:prstGeom prst="rect">
            <a:avLst/>
          </a:prstGeom>
          <a:noFill/>
          <a:ln>
            <a:noFill/>
          </a:ln>
        </p:spPr>
        <p:txBody>
          <a:bodyPr spcFirstLastPara="1" wrap="square" lIns="0" tIns="0" rIns="0" bIns="0" anchor="t" anchorCtr="0">
            <a:spAutoFit/>
          </a:bodyPr>
          <a:lstStyle/>
          <a:p>
            <a:pPr marL="0" marR="0" lvl="0" indent="0" algn="l" rtl="0">
              <a:lnSpc>
                <a:spcPct val="140002"/>
              </a:lnSpc>
              <a:spcBef>
                <a:spcPts val="0"/>
              </a:spcBef>
              <a:spcAft>
                <a:spcPts val="0"/>
              </a:spcAft>
              <a:buNone/>
            </a:pPr>
            <a:r>
              <a:rPr lang="en-US" sz="7507" b="1" i="0" u="none" strike="noStrike" cap="none">
                <a:solidFill>
                  <a:srgbClr val="191919"/>
                </a:solidFill>
                <a:latin typeface="Arial"/>
                <a:ea typeface="Arial"/>
                <a:cs typeface="Arial"/>
                <a:sym typeface="Arial"/>
              </a:rPr>
              <a:t>Title &amp; Logo of</a:t>
            </a:r>
            <a:endParaRPr sz="7507" b="1" i="0" u="none" strike="noStrike" cap="none">
              <a:solidFill>
                <a:srgbClr val="191919"/>
              </a:solidFill>
              <a:latin typeface="Arial"/>
              <a:ea typeface="Arial"/>
              <a:cs typeface="Arial"/>
              <a:sym typeface="Arial"/>
            </a:endParaRPr>
          </a:p>
        </p:txBody>
      </p:sp>
      <p:sp>
        <p:nvSpPr>
          <p:cNvPr id="99" name="Google Shape;99;p1"/>
          <p:cNvSpPr txBox="1"/>
          <p:nvPr/>
        </p:nvSpPr>
        <p:spPr>
          <a:xfrm>
            <a:off x="1387521" y="4870734"/>
            <a:ext cx="8293800" cy="1100100"/>
          </a:xfrm>
          <a:prstGeom prst="rect">
            <a:avLst/>
          </a:prstGeom>
          <a:noFill/>
          <a:ln>
            <a:noFill/>
          </a:ln>
        </p:spPr>
        <p:txBody>
          <a:bodyPr spcFirstLastPara="1" wrap="square" lIns="0" tIns="0" rIns="0" bIns="0" anchor="t" anchorCtr="0">
            <a:spAutoFit/>
          </a:bodyPr>
          <a:lstStyle/>
          <a:p>
            <a:pPr marL="0" marR="0" lvl="0" indent="0" algn="l" rtl="0">
              <a:lnSpc>
                <a:spcPct val="139997"/>
              </a:lnSpc>
              <a:spcBef>
                <a:spcPts val="0"/>
              </a:spcBef>
              <a:spcAft>
                <a:spcPts val="0"/>
              </a:spcAft>
              <a:buNone/>
            </a:pPr>
            <a:r>
              <a:rPr lang="en-US" sz="7148" b="1" i="0" u="none" strike="noStrike" cap="none">
                <a:solidFill>
                  <a:srgbClr val="191919"/>
                </a:solidFill>
                <a:latin typeface="Arial"/>
                <a:ea typeface="Arial"/>
                <a:cs typeface="Arial"/>
                <a:sym typeface="Arial"/>
              </a:rPr>
              <a:t>Company </a:t>
            </a:r>
            <a:endParaRPr/>
          </a:p>
        </p:txBody>
      </p:sp>
      <p:sp>
        <p:nvSpPr>
          <p:cNvPr id="100" name="Google Shape;100;p1"/>
          <p:cNvSpPr txBox="1"/>
          <p:nvPr/>
        </p:nvSpPr>
        <p:spPr>
          <a:xfrm>
            <a:off x="1359207" y="6260795"/>
            <a:ext cx="7038826" cy="529590"/>
          </a:xfrm>
          <a:prstGeom prst="rect">
            <a:avLst/>
          </a:prstGeom>
          <a:noFill/>
          <a:ln>
            <a:noFill/>
          </a:ln>
        </p:spPr>
        <p:txBody>
          <a:bodyPr spcFirstLastPara="1" wrap="square" lIns="0" tIns="0" rIns="0" bIns="0" anchor="t" anchorCtr="0">
            <a:spAutoFit/>
          </a:bodyPr>
          <a:lstStyle/>
          <a:p>
            <a:pPr marL="0" marR="0" lvl="0" indent="0" algn="ctr" rtl="0">
              <a:lnSpc>
                <a:spcPct val="130009"/>
              </a:lnSpc>
              <a:spcBef>
                <a:spcPts val="0"/>
              </a:spcBef>
              <a:spcAft>
                <a:spcPts val="0"/>
              </a:spcAft>
              <a:buNone/>
            </a:pPr>
            <a:r>
              <a:rPr lang="en-US" sz="3299" b="0" i="0" u="none" strike="noStrike" cap="none">
                <a:solidFill>
                  <a:srgbClr val="191919"/>
                </a:solidFill>
                <a:latin typeface="Quicksand"/>
                <a:ea typeface="Quicksand"/>
                <a:cs typeface="Quicksand"/>
                <a:sym typeface="Quicksand"/>
              </a:rPr>
              <a:t>One liner description of what you do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105"/>
        <p:cNvGrpSpPr/>
        <p:nvPr/>
      </p:nvGrpSpPr>
      <p:grpSpPr>
        <a:xfrm>
          <a:off x="0" y="0"/>
          <a:ext cx="0" cy="0"/>
          <a:chOff x="0" y="0"/>
          <a:chExt cx="0" cy="0"/>
        </a:xfrm>
      </p:grpSpPr>
      <p:sp>
        <p:nvSpPr>
          <p:cNvPr id="106" name="Google Shape;106;p2"/>
          <p:cNvSpPr/>
          <p:nvPr/>
        </p:nvSpPr>
        <p:spPr>
          <a:xfrm rot="10800000">
            <a:off x="2778327" y="7417124"/>
            <a:ext cx="12710840" cy="1184047"/>
          </a:xfrm>
          <a:custGeom>
            <a:avLst/>
            <a:gdLst/>
            <a:ahLst/>
            <a:cxnLst/>
            <a:rect l="l" t="t" r="r" b="b"/>
            <a:pathLst>
              <a:path w="12710840" h="1184047" extrusionOk="0">
                <a:moveTo>
                  <a:pt x="0" y="0"/>
                </a:moveTo>
                <a:lnTo>
                  <a:pt x="12710840" y="0"/>
                </a:lnTo>
                <a:lnTo>
                  <a:pt x="12710840" y="1184046"/>
                </a:lnTo>
                <a:lnTo>
                  <a:pt x="0" y="1184046"/>
                </a:lnTo>
                <a:lnTo>
                  <a:pt x="0" y="0"/>
                </a:lnTo>
                <a:close/>
              </a:path>
            </a:pathLst>
          </a:custGeom>
          <a:blipFill rotWithShape="1">
            <a:blip r:embed="rId3">
              <a:alphaModFix amt="72000"/>
            </a:blip>
            <a:stretch>
              <a:fillRect b="-208632"/>
            </a:stretch>
          </a:blipFill>
          <a:ln>
            <a:noFill/>
          </a:ln>
        </p:spPr>
      </p:sp>
      <p:grpSp>
        <p:nvGrpSpPr>
          <p:cNvPr id="107" name="Google Shape;107;p2"/>
          <p:cNvGrpSpPr/>
          <p:nvPr/>
        </p:nvGrpSpPr>
        <p:grpSpPr>
          <a:xfrm>
            <a:off x="0" y="-72330"/>
            <a:ext cx="18288000" cy="4563959"/>
            <a:chOff x="0" y="-19050"/>
            <a:chExt cx="4816593" cy="1202030"/>
          </a:xfrm>
        </p:grpSpPr>
        <p:sp>
          <p:nvSpPr>
            <p:cNvPr id="108" name="Google Shape;108;p2"/>
            <p:cNvSpPr/>
            <p:nvPr/>
          </p:nvSpPr>
          <p:spPr>
            <a:xfrm>
              <a:off x="0" y="0"/>
              <a:ext cx="4816592" cy="1182980"/>
            </a:xfrm>
            <a:custGeom>
              <a:avLst/>
              <a:gdLst/>
              <a:ahLst/>
              <a:cxnLst/>
              <a:rect l="l" t="t" r="r" b="b"/>
              <a:pathLst>
                <a:path w="4816592" h="1182980" extrusionOk="0">
                  <a:moveTo>
                    <a:pt x="0" y="0"/>
                  </a:moveTo>
                  <a:lnTo>
                    <a:pt x="4816592" y="0"/>
                  </a:lnTo>
                  <a:lnTo>
                    <a:pt x="4816592" y="1182980"/>
                  </a:lnTo>
                  <a:lnTo>
                    <a:pt x="0" y="1182980"/>
                  </a:lnTo>
                  <a:close/>
                </a:path>
              </a:pathLst>
            </a:custGeom>
            <a:solidFill>
              <a:srgbClr val="106861"/>
            </a:solidFill>
            <a:ln>
              <a:noFill/>
            </a:ln>
          </p:spPr>
        </p:sp>
        <p:sp>
          <p:nvSpPr>
            <p:cNvPr id="109" name="Google Shape;109;p2"/>
            <p:cNvSpPr txBox="1"/>
            <p:nvPr/>
          </p:nvSpPr>
          <p:spPr>
            <a:xfrm>
              <a:off x="0" y="-19050"/>
              <a:ext cx="4816593" cy="120203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0" name="Google Shape;110;p2"/>
          <p:cNvSpPr/>
          <p:nvPr/>
        </p:nvSpPr>
        <p:spPr>
          <a:xfrm>
            <a:off x="0" y="0"/>
            <a:ext cx="18288000" cy="4491629"/>
          </a:xfrm>
          <a:custGeom>
            <a:avLst/>
            <a:gdLst/>
            <a:ahLst/>
            <a:cxnLst/>
            <a:rect l="l" t="t" r="r" b="b"/>
            <a:pathLst>
              <a:path w="18288000" h="4491629" extrusionOk="0">
                <a:moveTo>
                  <a:pt x="0" y="0"/>
                </a:moveTo>
                <a:lnTo>
                  <a:pt x="18288000" y="0"/>
                </a:lnTo>
                <a:lnTo>
                  <a:pt x="18288000" y="4491629"/>
                </a:lnTo>
                <a:lnTo>
                  <a:pt x="0" y="4491629"/>
                </a:lnTo>
                <a:lnTo>
                  <a:pt x="0" y="0"/>
                </a:lnTo>
                <a:close/>
              </a:path>
            </a:pathLst>
          </a:custGeom>
          <a:blipFill rotWithShape="1">
            <a:blip r:embed="rId4">
              <a:alphaModFix amt="58999"/>
            </a:blip>
            <a:stretch>
              <a:fillRect t="-85628" b="-85631"/>
            </a:stretch>
          </a:blipFill>
          <a:ln>
            <a:noFill/>
          </a:ln>
        </p:spPr>
      </p:sp>
      <p:grpSp>
        <p:nvGrpSpPr>
          <p:cNvPr id="111" name="Google Shape;111;p2"/>
          <p:cNvGrpSpPr/>
          <p:nvPr/>
        </p:nvGrpSpPr>
        <p:grpSpPr>
          <a:xfrm>
            <a:off x="2778327" y="2173484"/>
            <a:ext cx="12731346" cy="5243639"/>
            <a:chOff x="0" y="-19050"/>
            <a:chExt cx="3353112" cy="1381041"/>
          </a:xfrm>
        </p:grpSpPr>
        <p:sp>
          <p:nvSpPr>
            <p:cNvPr id="112" name="Google Shape;112;p2"/>
            <p:cNvSpPr/>
            <p:nvPr/>
          </p:nvSpPr>
          <p:spPr>
            <a:xfrm>
              <a:off x="0" y="0"/>
              <a:ext cx="3353112" cy="1361991"/>
            </a:xfrm>
            <a:custGeom>
              <a:avLst/>
              <a:gdLst/>
              <a:ahLst/>
              <a:cxnLst/>
              <a:rect l="l" t="t" r="r" b="b"/>
              <a:pathLst>
                <a:path w="3353112" h="1361991" extrusionOk="0">
                  <a:moveTo>
                    <a:pt x="15202" y="0"/>
                  </a:moveTo>
                  <a:lnTo>
                    <a:pt x="3337909" y="0"/>
                  </a:lnTo>
                  <a:cubicBezTo>
                    <a:pt x="3341941" y="0"/>
                    <a:pt x="3345808" y="1602"/>
                    <a:pt x="3348659" y="4453"/>
                  </a:cubicBezTo>
                  <a:cubicBezTo>
                    <a:pt x="3351510" y="7304"/>
                    <a:pt x="3353112" y="11171"/>
                    <a:pt x="3353112" y="15202"/>
                  </a:cubicBezTo>
                  <a:lnTo>
                    <a:pt x="3353112" y="1346788"/>
                  </a:lnTo>
                  <a:cubicBezTo>
                    <a:pt x="3353112" y="1350820"/>
                    <a:pt x="3351510" y="1354687"/>
                    <a:pt x="3348659" y="1357538"/>
                  </a:cubicBezTo>
                  <a:cubicBezTo>
                    <a:pt x="3345808" y="1360389"/>
                    <a:pt x="3341941" y="1361991"/>
                    <a:pt x="3337909" y="1361991"/>
                  </a:cubicBezTo>
                  <a:lnTo>
                    <a:pt x="15202" y="1361991"/>
                  </a:lnTo>
                  <a:cubicBezTo>
                    <a:pt x="11171" y="1361991"/>
                    <a:pt x="7304" y="1360389"/>
                    <a:pt x="4453" y="1357538"/>
                  </a:cubicBezTo>
                  <a:cubicBezTo>
                    <a:pt x="1602" y="1354687"/>
                    <a:pt x="0" y="1350820"/>
                    <a:pt x="0" y="1346788"/>
                  </a:cubicBezTo>
                  <a:lnTo>
                    <a:pt x="0" y="15202"/>
                  </a:lnTo>
                  <a:cubicBezTo>
                    <a:pt x="0" y="11171"/>
                    <a:pt x="1602" y="7304"/>
                    <a:pt x="4453" y="4453"/>
                  </a:cubicBezTo>
                  <a:cubicBezTo>
                    <a:pt x="7304" y="1602"/>
                    <a:pt x="11171" y="0"/>
                    <a:pt x="15202" y="0"/>
                  </a:cubicBezTo>
                  <a:close/>
                </a:path>
              </a:pathLst>
            </a:custGeom>
            <a:solidFill>
              <a:srgbClr val="1068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
            <p:cNvSpPr txBox="1"/>
            <p:nvPr/>
          </p:nvSpPr>
          <p:spPr>
            <a:xfrm>
              <a:off x="0" y="-19050"/>
              <a:ext cx="3353112" cy="1381041"/>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4" name="Google Shape;114;p2"/>
          <p:cNvSpPr txBox="1"/>
          <p:nvPr/>
        </p:nvSpPr>
        <p:spPr>
          <a:xfrm>
            <a:off x="3558350" y="4435739"/>
            <a:ext cx="11150794" cy="264985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700" b="0" i="0" u="none" strike="noStrike" cap="none">
                <a:solidFill>
                  <a:srgbClr val="FFFFFF"/>
                </a:solidFill>
                <a:latin typeface="Arial"/>
                <a:ea typeface="Arial"/>
                <a:cs typeface="Arial"/>
                <a:sym typeface="Arial"/>
              </a:rPr>
              <a:t>Why does your company exists?</a:t>
            </a:r>
            <a:endParaRPr/>
          </a:p>
          <a:p>
            <a:pPr marL="0" marR="0" lvl="0" indent="0" algn="ctr" rtl="0">
              <a:lnSpc>
                <a:spcPct val="160000"/>
              </a:lnSpc>
              <a:spcBef>
                <a:spcPts val="0"/>
              </a:spcBef>
              <a:spcAft>
                <a:spcPts val="0"/>
              </a:spcAft>
              <a:buNone/>
            </a:pPr>
            <a:r>
              <a:rPr lang="en-US" sz="2700" b="0" i="0" u="none" strike="noStrike" cap="none">
                <a:solidFill>
                  <a:srgbClr val="FFFFFF"/>
                </a:solidFill>
                <a:latin typeface="Arial"/>
                <a:ea typeface="Arial"/>
                <a:cs typeface="Arial"/>
                <a:sym typeface="Arial"/>
              </a:rPr>
              <a:t>How will you transform the industry or vertical you're operating in?</a:t>
            </a:r>
            <a:endParaRPr/>
          </a:p>
          <a:p>
            <a:pPr marL="0" marR="0" lvl="0" indent="0" algn="ctr" rtl="0">
              <a:lnSpc>
                <a:spcPct val="160000"/>
              </a:lnSpc>
              <a:spcBef>
                <a:spcPts val="0"/>
              </a:spcBef>
              <a:spcAft>
                <a:spcPts val="0"/>
              </a:spcAft>
              <a:buNone/>
            </a:pPr>
            <a:r>
              <a:rPr lang="en-US" sz="2700" b="0" i="0" u="none" strike="noStrike" cap="none">
                <a:solidFill>
                  <a:srgbClr val="FFFFFF"/>
                </a:solidFill>
                <a:latin typeface="Arial"/>
                <a:ea typeface="Arial"/>
                <a:cs typeface="Arial"/>
                <a:sym typeface="Arial"/>
              </a:rPr>
              <a:t>What positive impact will your product(s) and solution(s)</a:t>
            </a:r>
            <a:endParaRPr/>
          </a:p>
          <a:p>
            <a:pPr marL="0" marR="0" lvl="0" indent="0" algn="ctr" rtl="0">
              <a:lnSpc>
                <a:spcPct val="160000"/>
              </a:lnSpc>
              <a:spcBef>
                <a:spcPts val="0"/>
              </a:spcBef>
              <a:spcAft>
                <a:spcPts val="0"/>
              </a:spcAft>
              <a:buNone/>
            </a:pPr>
            <a:r>
              <a:rPr lang="en-US" sz="2700" b="0" i="0" u="none" strike="noStrike" cap="none">
                <a:solidFill>
                  <a:srgbClr val="FFFFFF"/>
                </a:solidFill>
                <a:latin typeface="Arial"/>
                <a:ea typeface="Arial"/>
                <a:cs typeface="Arial"/>
                <a:sym typeface="Arial"/>
              </a:rPr>
              <a:t>create for the world at large?</a:t>
            </a:r>
            <a:endParaRPr/>
          </a:p>
          <a:p>
            <a:pPr marL="0" marR="0" lvl="0" indent="0" algn="ctr" rtl="0">
              <a:lnSpc>
                <a:spcPct val="139962"/>
              </a:lnSpc>
              <a:spcBef>
                <a:spcPts val="0"/>
              </a:spcBef>
              <a:spcAft>
                <a:spcPts val="0"/>
              </a:spcAft>
              <a:buNone/>
            </a:pPr>
            <a:endParaRPr sz="2700" b="0" i="0" u="none" strike="noStrike" cap="none">
              <a:solidFill>
                <a:srgbClr val="FFFFFF"/>
              </a:solidFill>
              <a:latin typeface="Arial"/>
              <a:ea typeface="Arial"/>
              <a:cs typeface="Arial"/>
              <a:sym typeface="Arial"/>
            </a:endParaRPr>
          </a:p>
        </p:txBody>
      </p:sp>
      <p:sp>
        <p:nvSpPr>
          <p:cNvPr id="115" name="Google Shape;115;p2"/>
          <p:cNvSpPr txBox="1"/>
          <p:nvPr/>
        </p:nvSpPr>
        <p:spPr>
          <a:xfrm>
            <a:off x="5679731" y="2769592"/>
            <a:ext cx="6928538" cy="1178696"/>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6844" b="1" i="0" u="none" strike="noStrike" cap="none">
                <a:solidFill>
                  <a:srgbClr val="FDFBFB"/>
                </a:solidFill>
                <a:latin typeface="Roboto Condensed"/>
                <a:ea typeface="Roboto Condensed"/>
                <a:cs typeface="Roboto Condensed"/>
                <a:sym typeface="Roboto Condensed"/>
              </a:rPr>
              <a:t>Vision</a:t>
            </a:r>
            <a:endParaRPr/>
          </a:p>
        </p:txBody>
      </p:sp>
      <p:grpSp>
        <p:nvGrpSpPr>
          <p:cNvPr id="116" name="Google Shape;116;p2"/>
          <p:cNvGrpSpPr/>
          <p:nvPr/>
        </p:nvGrpSpPr>
        <p:grpSpPr>
          <a:xfrm>
            <a:off x="16113923" y="9258300"/>
            <a:ext cx="327444" cy="327444"/>
            <a:chOff x="0" y="0"/>
            <a:chExt cx="812800" cy="812800"/>
          </a:xfrm>
        </p:grpSpPr>
        <p:sp>
          <p:nvSpPr>
            <p:cNvPr id="117" name="Google Shape;117;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9" name="Google Shape;119;p2"/>
          <p:cNvGrpSpPr/>
          <p:nvPr/>
        </p:nvGrpSpPr>
        <p:grpSpPr>
          <a:xfrm>
            <a:off x="15648108" y="9258300"/>
            <a:ext cx="327444" cy="327444"/>
            <a:chOff x="0" y="0"/>
            <a:chExt cx="812800" cy="812800"/>
          </a:xfrm>
        </p:grpSpPr>
        <p:sp>
          <p:nvSpPr>
            <p:cNvPr id="120" name="Google Shape;120;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2" name="Google Shape;122;p2"/>
          <p:cNvGrpSpPr/>
          <p:nvPr/>
        </p:nvGrpSpPr>
        <p:grpSpPr>
          <a:xfrm>
            <a:off x="15161723" y="9258300"/>
            <a:ext cx="327444" cy="327444"/>
            <a:chOff x="0" y="0"/>
            <a:chExt cx="812800" cy="812800"/>
          </a:xfrm>
        </p:grpSpPr>
        <p:sp>
          <p:nvSpPr>
            <p:cNvPr id="123" name="Google Shape;123;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25" name="Google Shape;125;p2"/>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130"/>
        <p:cNvGrpSpPr/>
        <p:nvPr/>
      </p:nvGrpSpPr>
      <p:grpSpPr>
        <a:xfrm>
          <a:off x="0" y="0"/>
          <a:ext cx="0" cy="0"/>
          <a:chOff x="0" y="0"/>
          <a:chExt cx="0" cy="0"/>
        </a:xfrm>
      </p:grpSpPr>
      <p:grpSp>
        <p:nvGrpSpPr>
          <p:cNvPr id="131" name="Google Shape;131;p3"/>
          <p:cNvGrpSpPr/>
          <p:nvPr/>
        </p:nvGrpSpPr>
        <p:grpSpPr>
          <a:xfrm>
            <a:off x="9832433" y="-418138"/>
            <a:ext cx="8956821" cy="11851258"/>
            <a:chOff x="0" y="-19050"/>
            <a:chExt cx="2171400" cy="2873098"/>
          </a:xfrm>
        </p:grpSpPr>
        <p:sp>
          <p:nvSpPr>
            <p:cNvPr id="132" name="Google Shape;132;p3"/>
            <p:cNvSpPr/>
            <p:nvPr/>
          </p:nvSpPr>
          <p:spPr>
            <a:xfrm>
              <a:off x="0" y="0"/>
              <a:ext cx="2171400" cy="2854048"/>
            </a:xfrm>
            <a:custGeom>
              <a:avLst/>
              <a:gdLst/>
              <a:ahLst/>
              <a:cxnLst/>
              <a:rect l="l" t="t" r="r" b="b"/>
              <a:pathLst>
                <a:path w="2171400" h="2854048" extrusionOk="0">
                  <a:moveTo>
                    <a:pt x="37167" y="0"/>
                  </a:moveTo>
                  <a:lnTo>
                    <a:pt x="2134233" y="0"/>
                  </a:lnTo>
                  <a:cubicBezTo>
                    <a:pt x="2154760" y="0"/>
                    <a:pt x="2171400" y="16640"/>
                    <a:pt x="2171400" y="37167"/>
                  </a:cubicBezTo>
                  <a:lnTo>
                    <a:pt x="2171400" y="2816880"/>
                  </a:lnTo>
                  <a:cubicBezTo>
                    <a:pt x="2171400" y="2826738"/>
                    <a:pt x="2167484" y="2836192"/>
                    <a:pt x="2160514" y="2843162"/>
                  </a:cubicBezTo>
                  <a:cubicBezTo>
                    <a:pt x="2153544" y="2850132"/>
                    <a:pt x="2144090" y="2854048"/>
                    <a:pt x="2134233" y="2854048"/>
                  </a:cubicBezTo>
                  <a:lnTo>
                    <a:pt x="37167" y="2854048"/>
                  </a:lnTo>
                  <a:cubicBezTo>
                    <a:pt x="27310" y="2854048"/>
                    <a:pt x="17856" y="2850132"/>
                    <a:pt x="10886" y="2843162"/>
                  </a:cubicBezTo>
                  <a:cubicBezTo>
                    <a:pt x="3916" y="2836192"/>
                    <a:pt x="0" y="2826738"/>
                    <a:pt x="0" y="2816880"/>
                  </a:cubicBezTo>
                  <a:lnTo>
                    <a:pt x="0" y="37167"/>
                  </a:lnTo>
                  <a:cubicBezTo>
                    <a:pt x="0" y="27310"/>
                    <a:pt x="3916" y="17856"/>
                    <a:pt x="10886" y="10886"/>
                  </a:cubicBezTo>
                  <a:cubicBezTo>
                    <a:pt x="17856" y="3916"/>
                    <a:pt x="27310" y="0"/>
                    <a:pt x="37167" y="0"/>
                  </a:cubicBezTo>
                  <a:close/>
                </a:path>
              </a:pathLst>
            </a:custGeom>
            <a:solidFill>
              <a:srgbClr val="18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txBox="1"/>
            <p:nvPr/>
          </p:nvSpPr>
          <p:spPr>
            <a:xfrm>
              <a:off x="0" y="-19050"/>
              <a:ext cx="2171400" cy="2873098"/>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4" name="Google Shape;134;p3"/>
          <p:cNvSpPr/>
          <p:nvPr/>
        </p:nvSpPr>
        <p:spPr>
          <a:xfrm>
            <a:off x="9832433" y="-339559"/>
            <a:ext cx="8734952" cy="6849387"/>
          </a:xfrm>
          <a:custGeom>
            <a:avLst/>
            <a:gdLst/>
            <a:ahLst/>
            <a:cxnLst/>
            <a:rect l="l" t="t" r="r" b="b"/>
            <a:pathLst>
              <a:path w="6349873" h="4979162" extrusionOk="0">
                <a:moveTo>
                  <a:pt x="292100" y="0"/>
                </a:moveTo>
                <a:cubicBezTo>
                  <a:pt x="131445" y="0"/>
                  <a:pt x="0" y="131445"/>
                  <a:pt x="0" y="292100"/>
                </a:cubicBezTo>
                <a:lnTo>
                  <a:pt x="0" y="3332480"/>
                </a:lnTo>
                <a:cubicBezTo>
                  <a:pt x="0" y="3493135"/>
                  <a:pt x="128397" y="3652520"/>
                  <a:pt x="285369" y="3686683"/>
                </a:cubicBezTo>
                <a:lnTo>
                  <a:pt x="6064504" y="4944999"/>
                </a:lnTo>
                <a:cubicBezTo>
                  <a:pt x="6221476" y="4979162"/>
                  <a:pt x="6349873" y="4875657"/>
                  <a:pt x="6349873" y="4715002"/>
                </a:cubicBezTo>
                <a:lnTo>
                  <a:pt x="6349873" y="292100"/>
                </a:lnTo>
                <a:cubicBezTo>
                  <a:pt x="6349873" y="131445"/>
                  <a:pt x="6218428" y="0"/>
                  <a:pt x="6057773" y="0"/>
                </a:cubicBezTo>
                <a:lnTo>
                  <a:pt x="292100" y="0"/>
                </a:lnTo>
                <a:close/>
              </a:path>
            </a:pathLst>
          </a:custGeom>
          <a:blipFill rotWithShape="1">
            <a:blip r:embed="rId3">
              <a:alphaModFix/>
            </a:blip>
            <a:stretch>
              <a:fillRect l="-8519" r="-8519"/>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a:off x="10334905" y="5642237"/>
            <a:ext cx="2264637" cy="1659361"/>
          </a:xfrm>
          <a:custGeom>
            <a:avLst/>
            <a:gdLst/>
            <a:ahLst/>
            <a:cxnLst/>
            <a:rect l="l" t="t" r="r" b="b"/>
            <a:pathLst>
              <a:path w="2264637" h="1659361" extrusionOk="0">
                <a:moveTo>
                  <a:pt x="0" y="0"/>
                </a:moveTo>
                <a:lnTo>
                  <a:pt x="2264637" y="0"/>
                </a:lnTo>
                <a:lnTo>
                  <a:pt x="2264637" y="1659362"/>
                </a:lnTo>
                <a:lnTo>
                  <a:pt x="0" y="1659362"/>
                </a:lnTo>
                <a:lnTo>
                  <a:pt x="0" y="0"/>
                </a:lnTo>
                <a:close/>
              </a:path>
            </a:pathLst>
          </a:custGeom>
          <a:blipFill rotWithShape="1">
            <a:blip r:embed="rId4">
              <a:alphaModFix amt="15000"/>
            </a:blip>
            <a:stretch>
              <a:fillRect/>
            </a:stretch>
          </a:blipFill>
          <a:ln>
            <a:noFill/>
          </a:ln>
        </p:spPr>
      </p:sp>
      <p:sp>
        <p:nvSpPr>
          <p:cNvPr id="136" name="Google Shape;136;p3"/>
          <p:cNvSpPr txBox="1"/>
          <p:nvPr/>
        </p:nvSpPr>
        <p:spPr>
          <a:xfrm>
            <a:off x="1009387" y="1189966"/>
            <a:ext cx="9039900" cy="1753200"/>
          </a:xfrm>
          <a:prstGeom prst="rect">
            <a:avLst/>
          </a:prstGeom>
          <a:noFill/>
          <a:ln>
            <a:noFill/>
          </a:ln>
        </p:spPr>
        <p:txBody>
          <a:bodyPr spcFirstLastPara="1" wrap="square" lIns="0" tIns="0" rIns="0" bIns="0" anchor="t" anchorCtr="0">
            <a:spAutoFit/>
          </a:bodyPr>
          <a:lstStyle/>
          <a:p>
            <a:pPr marL="0" marR="0" lvl="0" indent="0" algn="l" rtl="0">
              <a:lnSpc>
                <a:spcPct val="139991"/>
              </a:lnSpc>
              <a:spcBef>
                <a:spcPts val="0"/>
              </a:spcBef>
              <a:spcAft>
                <a:spcPts val="0"/>
              </a:spcAft>
              <a:buNone/>
            </a:pPr>
            <a:r>
              <a:rPr lang="en-US" sz="4746" b="1">
                <a:solidFill>
                  <a:srgbClr val="191919"/>
                </a:solidFill>
                <a:latin typeface="Roboto Condensed"/>
                <a:ea typeface="Roboto Condensed"/>
                <a:cs typeface="Roboto Condensed"/>
                <a:sym typeface="Roboto Condensed"/>
              </a:rPr>
              <a:t>1</a:t>
            </a:r>
            <a:r>
              <a:rPr lang="en-US" sz="4746" b="1" i="0" u="none" strike="noStrike" cap="none">
                <a:solidFill>
                  <a:srgbClr val="191919"/>
                </a:solidFill>
                <a:latin typeface="Roboto Condensed"/>
                <a:ea typeface="Roboto Condensed"/>
                <a:cs typeface="Roboto Condensed"/>
                <a:sym typeface="Roboto Condensed"/>
              </a:rPr>
              <a:t>. Traction / Progress to Date</a:t>
            </a:r>
            <a:endParaRPr/>
          </a:p>
          <a:p>
            <a:pPr marL="0" marR="0" lvl="0" indent="0" algn="l" rtl="0">
              <a:lnSpc>
                <a:spcPct val="139991"/>
              </a:lnSpc>
              <a:spcBef>
                <a:spcPts val="0"/>
              </a:spcBef>
              <a:spcAft>
                <a:spcPts val="0"/>
              </a:spcAft>
              <a:buNone/>
            </a:pPr>
            <a:endParaRPr sz="4746" b="1" i="0" u="none" strike="noStrike" cap="none">
              <a:solidFill>
                <a:srgbClr val="191919"/>
              </a:solidFill>
              <a:latin typeface="Roboto Condensed"/>
              <a:ea typeface="Roboto Condensed"/>
              <a:cs typeface="Roboto Condensed"/>
              <a:sym typeface="Roboto Condensed"/>
            </a:endParaRPr>
          </a:p>
        </p:txBody>
      </p:sp>
      <p:sp>
        <p:nvSpPr>
          <p:cNvPr id="137" name="Google Shape;137;p3"/>
          <p:cNvSpPr txBox="1"/>
          <p:nvPr/>
        </p:nvSpPr>
        <p:spPr>
          <a:xfrm>
            <a:off x="1009387" y="2739966"/>
            <a:ext cx="8166000" cy="7693200"/>
          </a:xfrm>
          <a:prstGeom prst="rect">
            <a:avLst/>
          </a:prstGeom>
          <a:noFill/>
          <a:ln>
            <a:noFill/>
          </a:ln>
        </p:spPr>
        <p:txBody>
          <a:bodyPr spcFirstLastPara="1" wrap="square" lIns="0" tIns="0" rIns="0" bIns="0" anchor="t" anchorCtr="0">
            <a:spAutoFit/>
          </a:bodyPr>
          <a:lstStyle/>
          <a:p>
            <a:pPr marL="0" marR="0" lvl="0" indent="0" algn="l" rtl="0">
              <a:lnSpc>
                <a:spcPct val="149042"/>
              </a:lnSpc>
              <a:spcBef>
                <a:spcPts val="0"/>
              </a:spcBef>
              <a:spcAft>
                <a:spcPts val="0"/>
              </a:spcAft>
              <a:buNone/>
            </a:pPr>
            <a:r>
              <a:rPr lang="en-US" sz="2453" b="1" i="0" u="none" strike="noStrike" cap="none" dirty="0">
                <a:solidFill>
                  <a:srgbClr val="191919"/>
                </a:solidFill>
                <a:latin typeface="Quicksand"/>
                <a:ea typeface="Quicksand"/>
                <a:cs typeface="Quicksand"/>
                <a:sym typeface="Quicksand"/>
              </a:rPr>
              <a:t>Team:</a:t>
            </a:r>
            <a:r>
              <a:rPr lang="en-US" sz="2453" b="0" i="0" u="none" strike="noStrike" cap="none" dirty="0">
                <a:solidFill>
                  <a:srgbClr val="191919"/>
                </a:solidFill>
                <a:latin typeface="Quicksand"/>
                <a:ea typeface="Quicksand"/>
                <a:cs typeface="Quicksand"/>
                <a:sym typeface="Quicksand"/>
              </a:rPr>
              <a:t> If you are seasoned professionals, then what your notable achievements to date?</a:t>
            </a:r>
            <a:endParaRPr dirty="0"/>
          </a:p>
          <a:p>
            <a:pPr marL="0" marR="0" lvl="0" indent="0" algn="l" rtl="0">
              <a:lnSpc>
                <a:spcPct val="149042"/>
              </a:lnSpc>
              <a:spcBef>
                <a:spcPts val="0"/>
              </a:spcBef>
              <a:spcAft>
                <a:spcPts val="0"/>
              </a:spcAft>
              <a:buNone/>
            </a:pPr>
            <a:endParaRPr sz="2453" b="0" i="0" u="none" strike="noStrike" cap="none" dirty="0">
              <a:solidFill>
                <a:srgbClr val="191919"/>
              </a:solidFill>
              <a:latin typeface="Quicksand"/>
              <a:ea typeface="Quicksand"/>
              <a:cs typeface="Quicksand"/>
              <a:sym typeface="Quicksand"/>
            </a:endParaRPr>
          </a:p>
          <a:p>
            <a:pPr marL="0" marR="0" lvl="0" indent="0" algn="l" rtl="0">
              <a:lnSpc>
                <a:spcPct val="149042"/>
              </a:lnSpc>
              <a:spcBef>
                <a:spcPts val="0"/>
              </a:spcBef>
              <a:spcAft>
                <a:spcPts val="0"/>
              </a:spcAft>
              <a:buNone/>
            </a:pPr>
            <a:r>
              <a:rPr lang="en-US" sz="2453" b="1" i="0" u="none" strike="noStrike" cap="none" dirty="0">
                <a:solidFill>
                  <a:srgbClr val="191919"/>
                </a:solidFill>
                <a:latin typeface="Quicksand"/>
                <a:ea typeface="Quicksand"/>
                <a:cs typeface="Quicksand"/>
                <a:sym typeface="Quicksand"/>
              </a:rPr>
              <a:t>Startup:</a:t>
            </a:r>
            <a:r>
              <a:rPr lang="en-US" sz="2453" b="0" i="0" u="none" strike="noStrike" cap="none" dirty="0">
                <a:solidFill>
                  <a:srgbClr val="191919"/>
                </a:solidFill>
                <a:latin typeface="Quicksand"/>
                <a:ea typeface="Quicksand"/>
                <a:cs typeface="Quicksand"/>
                <a:sym typeface="Quicksand"/>
              </a:rPr>
              <a:t> If you are a established company then how products have built/ launched so far? </a:t>
            </a:r>
            <a:endParaRPr dirty="0"/>
          </a:p>
          <a:p>
            <a:pPr marL="0" marR="0" lvl="0" indent="0" algn="l" rtl="0">
              <a:lnSpc>
                <a:spcPct val="149042"/>
              </a:lnSpc>
              <a:spcBef>
                <a:spcPts val="0"/>
              </a:spcBef>
              <a:spcAft>
                <a:spcPts val="0"/>
              </a:spcAft>
              <a:buNone/>
            </a:pPr>
            <a:endParaRPr sz="2453" b="0" i="0" u="none" strike="noStrike" cap="none" dirty="0">
              <a:solidFill>
                <a:srgbClr val="191919"/>
              </a:solidFill>
              <a:latin typeface="Quicksand"/>
              <a:ea typeface="Quicksand"/>
              <a:cs typeface="Quicksand"/>
              <a:sym typeface="Quicksand"/>
            </a:endParaRPr>
          </a:p>
          <a:p>
            <a:pPr marL="0" marR="0" lvl="0" indent="0" algn="l" rtl="0">
              <a:lnSpc>
                <a:spcPct val="149042"/>
              </a:lnSpc>
              <a:spcBef>
                <a:spcPts val="0"/>
              </a:spcBef>
              <a:spcAft>
                <a:spcPts val="0"/>
              </a:spcAft>
              <a:buNone/>
            </a:pPr>
            <a:r>
              <a:rPr lang="en-US" sz="2453" b="1" i="0" u="none" strike="noStrike" cap="none" dirty="0">
                <a:solidFill>
                  <a:srgbClr val="191919"/>
                </a:solidFill>
                <a:latin typeface="Quicksand"/>
                <a:ea typeface="Quicksand"/>
                <a:cs typeface="Quicksand"/>
                <a:sym typeface="Quicksand"/>
              </a:rPr>
              <a:t>Product:</a:t>
            </a:r>
            <a:r>
              <a:rPr lang="en-US" sz="2453" b="0" i="0" u="none" strike="noStrike" cap="none" dirty="0">
                <a:solidFill>
                  <a:srgbClr val="191919"/>
                </a:solidFill>
                <a:latin typeface="Quicksand"/>
                <a:ea typeface="Quicksand"/>
                <a:cs typeface="Quicksand"/>
                <a:sym typeface="Quicksand"/>
              </a:rPr>
              <a:t> What are the milestones that your product have achieved in terms of:</a:t>
            </a:r>
            <a:endParaRPr dirty="0"/>
          </a:p>
          <a:p>
            <a:pPr marL="0" marR="0" lvl="0" indent="0" algn="l" rtl="0">
              <a:lnSpc>
                <a:spcPct val="149042"/>
              </a:lnSpc>
              <a:spcBef>
                <a:spcPts val="0"/>
              </a:spcBef>
              <a:spcAft>
                <a:spcPts val="0"/>
              </a:spcAft>
              <a:buNone/>
            </a:pPr>
            <a:endParaRPr sz="2453" b="0" i="0" u="none" strike="noStrike" cap="none" dirty="0">
              <a:solidFill>
                <a:srgbClr val="191919"/>
              </a:solidFill>
              <a:latin typeface="Quicksand"/>
              <a:ea typeface="Quicksand"/>
              <a:cs typeface="Quicksand"/>
              <a:sym typeface="Quicksand"/>
            </a:endParaRPr>
          </a:p>
          <a:p>
            <a:pPr marL="0" marR="0" lvl="0" indent="0" algn="l" rtl="0">
              <a:lnSpc>
                <a:spcPct val="149042"/>
              </a:lnSpc>
              <a:spcBef>
                <a:spcPts val="0"/>
              </a:spcBef>
              <a:spcAft>
                <a:spcPts val="0"/>
              </a:spcAft>
              <a:buNone/>
            </a:pPr>
            <a:r>
              <a:rPr lang="en-US" sz="2453" b="1" i="0" u="none" strike="noStrike" cap="none" dirty="0">
                <a:solidFill>
                  <a:srgbClr val="191919"/>
                </a:solidFill>
                <a:latin typeface="Quicksand"/>
                <a:ea typeface="Quicksand"/>
                <a:cs typeface="Quicksand"/>
                <a:sym typeface="Quicksand"/>
              </a:rPr>
              <a:t>Revenue:</a:t>
            </a:r>
            <a:r>
              <a:rPr lang="en-US" sz="2453" b="0" i="0" u="none" strike="noStrike" cap="none" dirty="0">
                <a:solidFill>
                  <a:srgbClr val="191919"/>
                </a:solidFill>
                <a:latin typeface="Quicksand"/>
                <a:ea typeface="Quicksand"/>
                <a:cs typeface="Quicksand"/>
                <a:sym typeface="Quicksand"/>
              </a:rPr>
              <a:t> to date</a:t>
            </a:r>
            <a:endParaRPr dirty="0"/>
          </a:p>
          <a:p>
            <a:pPr marL="0" marR="0" lvl="0" indent="0" algn="l" rtl="0">
              <a:lnSpc>
                <a:spcPct val="149042"/>
              </a:lnSpc>
              <a:spcBef>
                <a:spcPts val="0"/>
              </a:spcBef>
              <a:spcAft>
                <a:spcPts val="0"/>
              </a:spcAft>
              <a:buNone/>
            </a:pPr>
            <a:r>
              <a:rPr lang="en-US" sz="2453" b="1" i="0" u="none" strike="noStrike" cap="none" dirty="0">
                <a:solidFill>
                  <a:srgbClr val="191919"/>
                </a:solidFill>
                <a:latin typeface="Quicksand"/>
                <a:ea typeface="Quicksand"/>
                <a:cs typeface="Quicksand"/>
                <a:sym typeface="Quicksand"/>
              </a:rPr>
              <a:t>Users Acquired:</a:t>
            </a:r>
            <a:r>
              <a:rPr lang="en-US" sz="2453" b="0" i="0" u="none" strike="noStrike" cap="none" dirty="0">
                <a:solidFill>
                  <a:srgbClr val="191919"/>
                </a:solidFill>
                <a:latin typeface="Quicksand"/>
                <a:ea typeface="Quicksand"/>
                <a:cs typeface="Quicksand"/>
                <a:sym typeface="Quicksand"/>
              </a:rPr>
              <a:t> to date</a:t>
            </a:r>
            <a:endParaRPr dirty="0"/>
          </a:p>
          <a:p>
            <a:pPr marL="0" marR="0" lvl="0" indent="0" algn="l" rtl="0">
              <a:lnSpc>
                <a:spcPct val="149042"/>
              </a:lnSpc>
              <a:spcBef>
                <a:spcPts val="0"/>
              </a:spcBef>
              <a:spcAft>
                <a:spcPts val="0"/>
              </a:spcAft>
              <a:buNone/>
            </a:pPr>
            <a:r>
              <a:rPr lang="en-US" sz="2453" b="1" i="0" u="none" strike="noStrike" cap="none" dirty="0">
                <a:solidFill>
                  <a:srgbClr val="191919"/>
                </a:solidFill>
                <a:latin typeface="Quicksand"/>
                <a:ea typeface="Quicksand"/>
                <a:cs typeface="Quicksand"/>
                <a:sym typeface="Quicksand"/>
              </a:rPr>
              <a:t>Users testimonials about the product:</a:t>
            </a:r>
            <a:r>
              <a:rPr lang="en-US" sz="2453" b="0" i="0" u="none" strike="noStrike" cap="none" dirty="0">
                <a:solidFill>
                  <a:srgbClr val="191919"/>
                </a:solidFill>
                <a:latin typeface="Quicksand"/>
                <a:ea typeface="Quicksand"/>
                <a:cs typeface="Quicksand"/>
                <a:sym typeface="Quicksand"/>
              </a:rPr>
              <a:t> (state here)</a:t>
            </a:r>
            <a:endParaRPr dirty="0"/>
          </a:p>
          <a:p>
            <a:pPr marL="0" marR="0" lvl="0" indent="0" algn="l" rtl="0">
              <a:lnSpc>
                <a:spcPct val="149042"/>
              </a:lnSpc>
              <a:spcBef>
                <a:spcPts val="0"/>
              </a:spcBef>
              <a:spcAft>
                <a:spcPts val="0"/>
              </a:spcAft>
              <a:buNone/>
            </a:pPr>
            <a:r>
              <a:rPr lang="en-US" sz="2453" b="1" i="0" u="none" strike="noStrike" cap="none" dirty="0">
                <a:solidFill>
                  <a:srgbClr val="191919"/>
                </a:solidFill>
                <a:latin typeface="Quicksand"/>
                <a:ea typeface="Quicksand"/>
                <a:cs typeface="Quicksand"/>
                <a:sym typeface="Quicksand"/>
              </a:rPr>
              <a:t>Any other achievements or accolades:</a:t>
            </a:r>
            <a:r>
              <a:rPr lang="en-US" sz="2453" b="0" i="0" u="none" strike="noStrike" cap="none" dirty="0">
                <a:solidFill>
                  <a:srgbClr val="191919"/>
                </a:solidFill>
                <a:latin typeface="Quicksand"/>
                <a:ea typeface="Quicksand"/>
                <a:cs typeface="Quicksand"/>
                <a:sym typeface="Quicksand"/>
              </a:rPr>
              <a:t> to date</a:t>
            </a:r>
            <a:endParaRPr dirty="0"/>
          </a:p>
          <a:p>
            <a:pPr marL="0" marR="0" lvl="0" indent="0" algn="l" rtl="0">
              <a:lnSpc>
                <a:spcPct val="149042"/>
              </a:lnSpc>
              <a:spcBef>
                <a:spcPts val="0"/>
              </a:spcBef>
              <a:spcAft>
                <a:spcPts val="0"/>
              </a:spcAft>
              <a:buNone/>
            </a:pPr>
            <a:endParaRPr sz="2453" b="0" i="0" u="none" strike="noStrike" cap="none" dirty="0">
              <a:solidFill>
                <a:srgbClr val="191919"/>
              </a:solidFill>
              <a:latin typeface="Quicksand"/>
              <a:ea typeface="Quicksand"/>
              <a:cs typeface="Quicksand"/>
              <a:sym typeface="Quicksan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4"/>
          <p:cNvSpPr txBox="1"/>
          <p:nvPr/>
        </p:nvSpPr>
        <p:spPr>
          <a:xfrm>
            <a:off x="1539869" y="2589888"/>
            <a:ext cx="9093300" cy="5356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314" b="0" i="0" u="none" strike="noStrike" cap="none">
                <a:solidFill>
                  <a:srgbClr val="343432"/>
                </a:solidFill>
                <a:latin typeface="Quicksand"/>
                <a:ea typeface="Quicksand"/>
                <a:cs typeface="Quicksand"/>
                <a:sym typeface="Quicksand"/>
              </a:rPr>
              <a:t>What specific problem are you solving for your customer? </a:t>
            </a:r>
            <a:endParaRPr/>
          </a:p>
          <a:p>
            <a:pPr marL="0" marR="0" lvl="0" indent="0" algn="l" rtl="0">
              <a:lnSpc>
                <a:spcPct val="50000"/>
              </a:lnSpc>
              <a:spcBef>
                <a:spcPts val="0"/>
              </a:spcBef>
              <a:spcAft>
                <a:spcPts val="0"/>
              </a:spcAft>
              <a:buNone/>
            </a:pPr>
            <a:endParaRPr sz="3314" b="0" i="0" u="none" strike="noStrike" cap="none">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b="0" i="0" u="none" strike="noStrike" cap="none">
                <a:solidFill>
                  <a:srgbClr val="343432"/>
                </a:solidFill>
                <a:latin typeface="Quicksand"/>
                <a:ea typeface="Quicksand"/>
                <a:cs typeface="Quicksand"/>
                <a:sym typeface="Quicksand"/>
              </a:rPr>
              <a:t>Describe the pain or problem that you are alleviating or the pleasure you are providing to improve the quality of life of your customer/ client/ beneficiary.</a:t>
            </a:r>
            <a:endParaRPr/>
          </a:p>
          <a:p>
            <a:pPr marL="0" marR="0" lvl="0" indent="0" algn="l" rtl="0">
              <a:lnSpc>
                <a:spcPct val="150000"/>
              </a:lnSpc>
              <a:spcBef>
                <a:spcPts val="0"/>
              </a:spcBef>
              <a:spcAft>
                <a:spcPts val="0"/>
              </a:spcAft>
              <a:buNone/>
            </a:pPr>
            <a:endParaRPr sz="3314" b="0" i="0" u="none" strike="noStrike" cap="none">
              <a:solidFill>
                <a:srgbClr val="343432"/>
              </a:solidFill>
              <a:latin typeface="Quicksand"/>
              <a:ea typeface="Quicksand"/>
              <a:cs typeface="Quicksand"/>
              <a:sym typeface="Quicksand"/>
            </a:endParaRPr>
          </a:p>
        </p:txBody>
      </p:sp>
      <p:grpSp>
        <p:nvGrpSpPr>
          <p:cNvPr id="144" name="Google Shape;144;p4"/>
          <p:cNvGrpSpPr/>
          <p:nvPr/>
        </p:nvGrpSpPr>
        <p:grpSpPr>
          <a:xfrm>
            <a:off x="-2532562" y="7517237"/>
            <a:ext cx="5578409" cy="5578409"/>
            <a:chOff x="0" y="0"/>
            <a:chExt cx="812800" cy="812800"/>
          </a:xfrm>
        </p:grpSpPr>
        <p:sp>
          <p:nvSpPr>
            <p:cNvPr id="145" name="Google Shape;145;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7" name="Google Shape;147;p4"/>
          <p:cNvGrpSpPr/>
          <p:nvPr/>
        </p:nvGrpSpPr>
        <p:grpSpPr>
          <a:xfrm>
            <a:off x="15017929" y="-2533783"/>
            <a:ext cx="5002094" cy="5002094"/>
            <a:chOff x="0" y="0"/>
            <a:chExt cx="812800" cy="812800"/>
          </a:xfrm>
        </p:grpSpPr>
        <p:sp>
          <p:nvSpPr>
            <p:cNvPr id="148" name="Google Shape;148;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0" name="Google Shape;150;p4"/>
          <p:cNvGrpSpPr/>
          <p:nvPr/>
        </p:nvGrpSpPr>
        <p:grpSpPr>
          <a:xfrm>
            <a:off x="4656935" y="8693553"/>
            <a:ext cx="1183437" cy="1183437"/>
            <a:chOff x="0" y="0"/>
            <a:chExt cx="812800" cy="812800"/>
          </a:xfrm>
        </p:grpSpPr>
        <p:sp>
          <p:nvSpPr>
            <p:cNvPr id="151" name="Google Shape;151;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3" name="Google Shape;153;p4"/>
          <p:cNvGrpSpPr/>
          <p:nvPr/>
        </p:nvGrpSpPr>
        <p:grpSpPr>
          <a:xfrm>
            <a:off x="16113923" y="9258300"/>
            <a:ext cx="327444" cy="327444"/>
            <a:chOff x="0" y="0"/>
            <a:chExt cx="812800" cy="812800"/>
          </a:xfrm>
        </p:grpSpPr>
        <p:sp>
          <p:nvSpPr>
            <p:cNvPr id="154" name="Google Shape;154;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6" name="Google Shape;156;p4"/>
          <p:cNvGrpSpPr/>
          <p:nvPr/>
        </p:nvGrpSpPr>
        <p:grpSpPr>
          <a:xfrm>
            <a:off x="15648108" y="9258300"/>
            <a:ext cx="327444" cy="327444"/>
            <a:chOff x="0" y="0"/>
            <a:chExt cx="812800" cy="812800"/>
          </a:xfrm>
        </p:grpSpPr>
        <p:sp>
          <p:nvSpPr>
            <p:cNvPr id="157" name="Google Shape;157;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4"/>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9" name="Google Shape;159;p4"/>
          <p:cNvGrpSpPr/>
          <p:nvPr/>
        </p:nvGrpSpPr>
        <p:grpSpPr>
          <a:xfrm>
            <a:off x="15161723" y="9258300"/>
            <a:ext cx="327444" cy="327444"/>
            <a:chOff x="0" y="0"/>
            <a:chExt cx="812800" cy="812800"/>
          </a:xfrm>
        </p:grpSpPr>
        <p:sp>
          <p:nvSpPr>
            <p:cNvPr id="160" name="Google Shape;160;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4"/>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2" name="Google Shape;162;p4"/>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3" name="Google Shape;163;p4"/>
          <p:cNvGrpSpPr/>
          <p:nvPr/>
        </p:nvGrpSpPr>
        <p:grpSpPr>
          <a:xfrm>
            <a:off x="11408873" y="1640161"/>
            <a:ext cx="6879127" cy="6468959"/>
            <a:chOff x="0" y="-19050"/>
            <a:chExt cx="1811787" cy="1703759"/>
          </a:xfrm>
        </p:grpSpPr>
        <p:sp>
          <p:nvSpPr>
            <p:cNvPr id="164" name="Google Shape;164;p4"/>
            <p:cNvSpPr/>
            <p:nvPr/>
          </p:nvSpPr>
          <p:spPr>
            <a:xfrm>
              <a:off x="0" y="0"/>
              <a:ext cx="1811787" cy="1684709"/>
            </a:xfrm>
            <a:custGeom>
              <a:avLst/>
              <a:gdLst/>
              <a:ahLst/>
              <a:cxnLst/>
              <a:rect l="l" t="t" r="r" b="b"/>
              <a:pathLst>
                <a:path w="1811787" h="1684709" extrusionOk="0">
                  <a:moveTo>
                    <a:pt x="0" y="0"/>
                  </a:moveTo>
                  <a:lnTo>
                    <a:pt x="1811787" y="0"/>
                  </a:lnTo>
                  <a:lnTo>
                    <a:pt x="1811787" y="1684709"/>
                  </a:lnTo>
                  <a:lnTo>
                    <a:pt x="0" y="1684709"/>
                  </a:lnTo>
                  <a:close/>
                </a:path>
              </a:pathLst>
            </a:custGeom>
            <a:solidFill>
              <a:srgbClr val="8DCACA"/>
            </a:solidFill>
            <a:ln>
              <a:noFill/>
            </a:ln>
          </p:spPr>
        </p:sp>
        <p:sp>
          <p:nvSpPr>
            <p:cNvPr id="165" name="Google Shape;165;p4"/>
            <p:cNvSpPr txBox="1"/>
            <p:nvPr/>
          </p:nvSpPr>
          <p:spPr>
            <a:xfrm>
              <a:off x="0" y="-19050"/>
              <a:ext cx="1811787" cy="1703759"/>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6" name="Google Shape;166;p4"/>
          <p:cNvSpPr/>
          <p:nvPr/>
        </p:nvSpPr>
        <p:spPr>
          <a:xfrm>
            <a:off x="11728084" y="2725291"/>
            <a:ext cx="6436091" cy="4682256"/>
          </a:xfrm>
          <a:custGeom>
            <a:avLst/>
            <a:gdLst/>
            <a:ahLst/>
            <a:cxnLst/>
            <a:rect l="l" t="t" r="r" b="b"/>
            <a:pathLst>
              <a:path w="6436091" h="4682256" extrusionOk="0">
                <a:moveTo>
                  <a:pt x="0" y="0"/>
                </a:moveTo>
                <a:lnTo>
                  <a:pt x="6436091" y="0"/>
                </a:lnTo>
                <a:lnTo>
                  <a:pt x="6436091" y="4682257"/>
                </a:lnTo>
                <a:lnTo>
                  <a:pt x="0" y="4682257"/>
                </a:lnTo>
                <a:lnTo>
                  <a:pt x="0" y="0"/>
                </a:lnTo>
                <a:close/>
              </a:path>
            </a:pathLst>
          </a:custGeom>
          <a:blipFill rotWithShape="1">
            <a:blip r:embed="rId4">
              <a:alphaModFix/>
            </a:blip>
            <a:stretch>
              <a:fillRect/>
            </a:stretch>
          </a:blipFill>
          <a:ln>
            <a:noFill/>
          </a:ln>
        </p:spPr>
      </p:sp>
      <p:sp>
        <p:nvSpPr>
          <p:cNvPr id="167" name="Google Shape;167;p4"/>
          <p:cNvSpPr txBox="1"/>
          <p:nvPr/>
        </p:nvSpPr>
        <p:spPr>
          <a:xfrm>
            <a:off x="1539882" y="1663604"/>
            <a:ext cx="6064200" cy="7221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692" b="1">
                <a:solidFill>
                  <a:srgbClr val="191919"/>
                </a:solidFill>
                <a:latin typeface="Roboto Condensed"/>
                <a:ea typeface="Roboto Condensed"/>
                <a:cs typeface="Roboto Condensed"/>
                <a:sym typeface="Roboto Condensed"/>
              </a:rPr>
              <a:t>2</a:t>
            </a:r>
            <a:r>
              <a:rPr lang="en-US" sz="4692" b="1" i="0" u="none" strike="noStrike" cap="none">
                <a:solidFill>
                  <a:srgbClr val="191919"/>
                </a:solidFill>
                <a:latin typeface="Roboto Condensed"/>
                <a:ea typeface="Roboto Condensed"/>
                <a:cs typeface="Roboto Condensed"/>
                <a:sym typeface="Roboto Condensed"/>
              </a:rPr>
              <a:t>. </a:t>
            </a:r>
            <a:r>
              <a:rPr lang="en-US" sz="4692" b="1">
                <a:solidFill>
                  <a:srgbClr val="191919"/>
                </a:solidFill>
                <a:latin typeface="Roboto Condensed"/>
                <a:ea typeface="Roboto Condensed"/>
                <a:cs typeface="Roboto Condensed"/>
                <a:sym typeface="Roboto Condensed"/>
              </a:rPr>
              <a:t>Problem identification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5"/>
          <p:cNvSpPr txBox="1"/>
          <p:nvPr/>
        </p:nvSpPr>
        <p:spPr>
          <a:xfrm>
            <a:off x="1777219" y="3186100"/>
            <a:ext cx="8846237" cy="47791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314" b="0" i="0" u="none" strike="noStrike" cap="none">
                <a:solidFill>
                  <a:srgbClr val="343432"/>
                </a:solidFill>
                <a:latin typeface="Quicksand"/>
                <a:ea typeface="Quicksand"/>
                <a:cs typeface="Quicksand"/>
                <a:sym typeface="Quicksand"/>
              </a:rPr>
              <a:t>What is the minimum viable product (MVP) that embodies your UVP? </a:t>
            </a:r>
            <a:endParaRPr/>
          </a:p>
          <a:p>
            <a:pPr marL="0" marR="0" lvl="0" indent="0" algn="l" rtl="0">
              <a:lnSpc>
                <a:spcPct val="50000"/>
              </a:lnSpc>
              <a:spcBef>
                <a:spcPts val="0"/>
              </a:spcBef>
              <a:spcAft>
                <a:spcPts val="0"/>
              </a:spcAft>
              <a:buNone/>
            </a:pPr>
            <a:endParaRPr sz="3314" b="0" i="0" u="none" strike="noStrike" cap="none">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b="0" i="0" u="none" strike="noStrike" cap="none">
                <a:solidFill>
                  <a:srgbClr val="343432"/>
                </a:solidFill>
                <a:latin typeface="Quicksand"/>
                <a:ea typeface="Quicksand"/>
                <a:cs typeface="Quicksand"/>
                <a:sym typeface="Quicksand"/>
              </a:rPr>
              <a:t>What your product or service is and how it works in three simple steps. </a:t>
            </a:r>
            <a:endParaRPr/>
          </a:p>
          <a:p>
            <a:pPr marL="0" marR="0" lvl="0" indent="0" algn="l" rtl="0">
              <a:lnSpc>
                <a:spcPct val="50000"/>
              </a:lnSpc>
              <a:spcBef>
                <a:spcPts val="0"/>
              </a:spcBef>
              <a:spcAft>
                <a:spcPts val="0"/>
              </a:spcAft>
              <a:buNone/>
            </a:pPr>
            <a:endParaRPr sz="3314" b="0" i="0" u="none" strike="noStrike" cap="none">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b="0" i="0" u="none" strike="noStrike" cap="none">
                <a:solidFill>
                  <a:srgbClr val="343432"/>
                </a:solidFill>
                <a:latin typeface="Quicksand"/>
                <a:ea typeface="Quicksand"/>
                <a:cs typeface="Quicksand"/>
                <a:sym typeface="Quicksand"/>
              </a:rPr>
              <a:t>Show screenshots/mockups of the product/ solution </a:t>
            </a:r>
            <a:endParaRPr/>
          </a:p>
          <a:p>
            <a:pPr marL="0" marR="0" lvl="0" indent="0" algn="l" rtl="0">
              <a:lnSpc>
                <a:spcPct val="150000"/>
              </a:lnSpc>
              <a:spcBef>
                <a:spcPts val="0"/>
              </a:spcBef>
              <a:spcAft>
                <a:spcPts val="0"/>
              </a:spcAft>
              <a:buNone/>
            </a:pPr>
            <a:endParaRPr sz="3314" b="0" i="0" u="none" strike="noStrike" cap="none">
              <a:solidFill>
                <a:srgbClr val="343432"/>
              </a:solidFill>
              <a:latin typeface="Quicksand"/>
              <a:ea typeface="Quicksand"/>
              <a:cs typeface="Quicksand"/>
              <a:sym typeface="Quicksand"/>
            </a:endParaRPr>
          </a:p>
        </p:txBody>
      </p:sp>
      <p:grpSp>
        <p:nvGrpSpPr>
          <p:cNvPr id="174" name="Google Shape;174;p5"/>
          <p:cNvGrpSpPr/>
          <p:nvPr/>
        </p:nvGrpSpPr>
        <p:grpSpPr>
          <a:xfrm>
            <a:off x="-3216337" y="8342462"/>
            <a:ext cx="5578409" cy="5578409"/>
            <a:chOff x="0" y="0"/>
            <a:chExt cx="812800" cy="812800"/>
          </a:xfrm>
        </p:grpSpPr>
        <p:sp>
          <p:nvSpPr>
            <p:cNvPr id="175" name="Google Shape;175;p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7" name="Google Shape;177;p5"/>
          <p:cNvGrpSpPr/>
          <p:nvPr/>
        </p:nvGrpSpPr>
        <p:grpSpPr>
          <a:xfrm>
            <a:off x="15017929" y="-2533783"/>
            <a:ext cx="5002094" cy="5002094"/>
            <a:chOff x="0" y="0"/>
            <a:chExt cx="812800" cy="812800"/>
          </a:xfrm>
        </p:grpSpPr>
        <p:sp>
          <p:nvSpPr>
            <p:cNvPr id="178" name="Google Shape;178;p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0" name="Google Shape;180;p5"/>
          <p:cNvGrpSpPr/>
          <p:nvPr/>
        </p:nvGrpSpPr>
        <p:grpSpPr>
          <a:xfrm>
            <a:off x="3590135" y="9531753"/>
            <a:ext cx="1183437" cy="1183437"/>
            <a:chOff x="0" y="0"/>
            <a:chExt cx="812800" cy="812800"/>
          </a:xfrm>
        </p:grpSpPr>
        <p:sp>
          <p:nvSpPr>
            <p:cNvPr id="181" name="Google Shape;181;p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3" name="Google Shape;183;p5"/>
          <p:cNvGrpSpPr/>
          <p:nvPr/>
        </p:nvGrpSpPr>
        <p:grpSpPr>
          <a:xfrm>
            <a:off x="16113923" y="9258300"/>
            <a:ext cx="327444" cy="327444"/>
            <a:chOff x="0" y="0"/>
            <a:chExt cx="812800" cy="812800"/>
          </a:xfrm>
        </p:grpSpPr>
        <p:sp>
          <p:nvSpPr>
            <p:cNvPr id="184" name="Google Shape;184;p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6" name="Google Shape;186;p5"/>
          <p:cNvGrpSpPr/>
          <p:nvPr/>
        </p:nvGrpSpPr>
        <p:grpSpPr>
          <a:xfrm>
            <a:off x="15648108" y="9258300"/>
            <a:ext cx="327444" cy="327444"/>
            <a:chOff x="0" y="0"/>
            <a:chExt cx="812800" cy="812800"/>
          </a:xfrm>
        </p:grpSpPr>
        <p:sp>
          <p:nvSpPr>
            <p:cNvPr id="187" name="Google Shape;187;p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9" name="Google Shape;189;p5"/>
          <p:cNvGrpSpPr/>
          <p:nvPr/>
        </p:nvGrpSpPr>
        <p:grpSpPr>
          <a:xfrm>
            <a:off x="15161723" y="9258300"/>
            <a:ext cx="327444" cy="327444"/>
            <a:chOff x="0" y="0"/>
            <a:chExt cx="812800" cy="812800"/>
          </a:xfrm>
        </p:grpSpPr>
        <p:sp>
          <p:nvSpPr>
            <p:cNvPr id="190" name="Google Shape;190;p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2" name="Google Shape;192;p5"/>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3" name="Google Shape;193;p5"/>
          <p:cNvGrpSpPr/>
          <p:nvPr/>
        </p:nvGrpSpPr>
        <p:grpSpPr>
          <a:xfrm>
            <a:off x="11408873" y="1640161"/>
            <a:ext cx="6879127" cy="6468959"/>
            <a:chOff x="0" y="-19050"/>
            <a:chExt cx="1811787" cy="1703759"/>
          </a:xfrm>
        </p:grpSpPr>
        <p:sp>
          <p:nvSpPr>
            <p:cNvPr id="194" name="Google Shape;194;p5"/>
            <p:cNvSpPr/>
            <p:nvPr/>
          </p:nvSpPr>
          <p:spPr>
            <a:xfrm>
              <a:off x="0" y="0"/>
              <a:ext cx="1811787" cy="1684709"/>
            </a:xfrm>
            <a:custGeom>
              <a:avLst/>
              <a:gdLst/>
              <a:ahLst/>
              <a:cxnLst/>
              <a:rect l="l" t="t" r="r" b="b"/>
              <a:pathLst>
                <a:path w="1811787" h="1684709" extrusionOk="0">
                  <a:moveTo>
                    <a:pt x="0" y="0"/>
                  </a:moveTo>
                  <a:lnTo>
                    <a:pt x="1811787" y="0"/>
                  </a:lnTo>
                  <a:lnTo>
                    <a:pt x="1811787" y="1684709"/>
                  </a:lnTo>
                  <a:lnTo>
                    <a:pt x="0" y="1684709"/>
                  </a:lnTo>
                  <a:close/>
                </a:path>
              </a:pathLst>
            </a:custGeom>
            <a:solidFill>
              <a:srgbClr val="8DCACA"/>
            </a:solidFill>
            <a:ln>
              <a:noFill/>
            </a:ln>
          </p:spPr>
        </p:sp>
        <p:sp>
          <p:nvSpPr>
            <p:cNvPr id="195" name="Google Shape;195;p5"/>
            <p:cNvSpPr txBox="1"/>
            <p:nvPr/>
          </p:nvSpPr>
          <p:spPr>
            <a:xfrm>
              <a:off x="0" y="-19050"/>
              <a:ext cx="1811787" cy="1703759"/>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96" name="Google Shape;196;p5"/>
          <p:cNvSpPr/>
          <p:nvPr/>
        </p:nvSpPr>
        <p:spPr>
          <a:xfrm>
            <a:off x="12210206" y="2468311"/>
            <a:ext cx="5049094" cy="5049094"/>
          </a:xfrm>
          <a:custGeom>
            <a:avLst/>
            <a:gdLst/>
            <a:ahLst/>
            <a:cxnLst/>
            <a:rect l="l" t="t" r="r" b="b"/>
            <a:pathLst>
              <a:path w="5049094" h="5049094" extrusionOk="0">
                <a:moveTo>
                  <a:pt x="0" y="0"/>
                </a:moveTo>
                <a:lnTo>
                  <a:pt x="5049094" y="0"/>
                </a:lnTo>
                <a:lnTo>
                  <a:pt x="5049094" y="5049094"/>
                </a:lnTo>
                <a:lnTo>
                  <a:pt x="0" y="5049094"/>
                </a:lnTo>
                <a:lnTo>
                  <a:pt x="0" y="0"/>
                </a:lnTo>
                <a:close/>
              </a:path>
            </a:pathLst>
          </a:custGeom>
          <a:blipFill rotWithShape="1">
            <a:blip r:embed="rId4">
              <a:alphaModFix/>
            </a:blip>
            <a:stretch>
              <a:fillRect/>
            </a:stretch>
          </a:blipFill>
          <a:ln>
            <a:noFill/>
          </a:ln>
        </p:spPr>
      </p:sp>
      <p:sp>
        <p:nvSpPr>
          <p:cNvPr id="197" name="Google Shape;197;p5"/>
          <p:cNvSpPr txBox="1"/>
          <p:nvPr/>
        </p:nvSpPr>
        <p:spPr>
          <a:xfrm>
            <a:off x="1777219" y="2244404"/>
            <a:ext cx="6064200" cy="7221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692" b="1">
                <a:solidFill>
                  <a:srgbClr val="191919"/>
                </a:solidFill>
                <a:latin typeface="Roboto Condensed"/>
                <a:ea typeface="Roboto Condensed"/>
                <a:cs typeface="Roboto Condensed"/>
                <a:sym typeface="Roboto Condensed"/>
              </a:rPr>
              <a:t>3</a:t>
            </a:r>
            <a:r>
              <a:rPr lang="en-US" sz="4692" b="1" i="0" u="none" strike="noStrike" cap="none">
                <a:solidFill>
                  <a:srgbClr val="191919"/>
                </a:solidFill>
                <a:latin typeface="Roboto Condensed"/>
                <a:ea typeface="Roboto Condensed"/>
                <a:cs typeface="Roboto Condensed"/>
                <a:sym typeface="Roboto Condensed"/>
              </a:rPr>
              <a:t>. </a:t>
            </a:r>
            <a:r>
              <a:rPr lang="en-US" sz="4692" b="1">
                <a:solidFill>
                  <a:srgbClr val="191919"/>
                </a:solidFill>
                <a:latin typeface="Roboto Condensed"/>
                <a:ea typeface="Roboto Condensed"/>
                <a:cs typeface="Roboto Condensed"/>
                <a:sym typeface="Roboto Condensed"/>
              </a:rPr>
              <a:t>Solution addressed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6"/>
          <p:cNvSpPr txBox="1"/>
          <p:nvPr/>
        </p:nvSpPr>
        <p:spPr>
          <a:xfrm>
            <a:off x="1738637" y="1458366"/>
            <a:ext cx="11271000" cy="738900"/>
          </a:xfrm>
          <a:prstGeom prst="rect">
            <a:avLst/>
          </a:prstGeom>
          <a:noFill/>
          <a:ln>
            <a:noFill/>
          </a:ln>
        </p:spPr>
        <p:txBody>
          <a:bodyPr spcFirstLastPara="1" wrap="square" lIns="0" tIns="0" rIns="0" bIns="0" anchor="t" anchorCtr="0">
            <a:spAutoFit/>
          </a:bodyPr>
          <a:lstStyle/>
          <a:p>
            <a:pPr marL="0" marR="0" lvl="0" indent="0" algn="l" rtl="0">
              <a:lnSpc>
                <a:spcPct val="136854"/>
              </a:lnSpc>
              <a:spcBef>
                <a:spcPts val="0"/>
              </a:spcBef>
              <a:spcAft>
                <a:spcPts val="0"/>
              </a:spcAft>
              <a:buNone/>
            </a:pPr>
            <a:r>
              <a:rPr lang="en-US" sz="4692" b="1">
                <a:solidFill>
                  <a:srgbClr val="191919"/>
                </a:solidFill>
                <a:latin typeface="Roboto Condensed"/>
                <a:ea typeface="Roboto Condensed"/>
                <a:cs typeface="Roboto Condensed"/>
                <a:sym typeface="Roboto Condensed"/>
              </a:rPr>
              <a:t>4</a:t>
            </a:r>
            <a:r>
              <a:rPr lang="en-US" sz="4692" b="1" i="0" u="none" strike="noStrike" cap="none">
                <a:solidFill>
                  <a:srgbClr val="191919"/>
                </a:solidFill>
                <a:latin typeface="Roboto Condensed"/>
                <a:ea typeface="Roboto Condensed"/>
                <a:cs typeface="Roboto Condensed"/>
                <a:sym typeface="Roboto Condensed"/>
              </a:rPr>
              <a:t>. </a:t>
            </a:r>
            <a:r>
              <a:rPr lang="en-US" sz="4800" b="1" i="0" u="none" strike="noStrike" cap="none">
                <a:solidFill>
                  <a:schemeClr val="dk1"/>
                </a:solidFill>
                <a:latin typeface="Roboto Condensed"/>
                <a:ea typeface="Roboto Condensed"/>
                <a:cs typeface="Roboto Condensed"/>
                <a:sym typeface="Roboto Condensed"/>
              </a:rPr>
              <a:t>Tech Stack and Product Roadmap</a:t>
            </a:r>
            <a:endParaRPr sz="4692" b="1" i="0" u="none" strike="noStrike" cap="none">
              <a:solidFill>
                <a:srgbClr val="191919"/>
              </a:solidFill>
              <a:latin typeface="Roboto Condensed"/>
              <a:ea typeface="Roboto Condensed"/>
              <a:cs typeface="Roboto Condensed"/>
              <a:sym typeface="Roboto Condensed"/>
            </a:endParaRPr>
          </a:p>
        </p:txBody>
      </p:sp>
      <p:sp>
        <p:nvSpPr>
          <p:cNvPr id="204" name="Google Shape;204;p6"/>
          <p:cNvSpPr txBox="1"/>
          <p:nvPr/>
        </p:nvSpPr>
        <p:spPr>
          <a:xfrm>
            <a:off x="1738637" y="2419533"/>
            <a:ext cx="13837200" cy="3197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3600">
                <a:solidFill>
                  <a:schemeClr val="dk1"/>
                </a:solidFill>
                <a:latin typeface="Quicksand"/>
                <a:ea typeface="Quicksand"/>
                <a:cs typeface="Quicksand"/>
                <a:sym typeface="Quicksand"/>
              </a:rPr>
              <a:t>How technology is enabling your business?</a:t>
            </a:r>
            <a:endParaRPr>
              <a:solidFill>
                <a:schemeClr val="dk1"/>
              </a:solidFill>
            </a:endParaRPr>
          </a:p>
          <a:p>
            <a:pPr marL="0" marR="0" lvl="0" indent="0" algn="l" rtl="0">
              <a:spcBef>
                <a:spcPts val="0"/>
              </a:spcBef>
              <a:spcAft>
                <a:spcPts val="0"/>
              </a:spcAft>
              <a:buNone/>
            </a:pPr>
            <a:endParaRPr/>
          </a:p>
          <a:p>
            <a:pPr marL="0" marR="0" lvl="0" indent="0" algn="l" rtl="0">
              <a:spcBef>
                <a:spcPts val="0"/>
              </a:spcBef>
              <a:spcAft>
                <a:spcPts val="0"/>
              </a:spcAft>
              <a:buNone/>
            </a:pPr>
            <a:r>
              <a:rPr lang="en-US" sz="3600">
                <a:solidFill>
                  <a:schemeClr val="dk1"/>
                </a:solidFill>
                <a:latin typeface="Quicksand"/>
                <a:ea typeface="Quicksand"/>
                <a:cs typeface="Quicksand"/>
                <a:sym typeface="Quicksand"/>
              </a:rPr>
              <a:t>Share brief details of your Tech Stack and Architecture </a:t>
            </a:r>
            <a:endParaRPr/>
          </a:p>
          <a:p>
            <a:pPr marL="0" marR="0" lvl="0" indent="0" algn="l" rtl="0">
              <a:lnSpc>
                <a:spcPct val="50000"/>
              </a:lnSpc>
              <a:spcBef>
                <a:spcPts val="0"/>
              </a:spcBef>
              <a:spcAft>
                <a:spcPts val="0"/>
              </a:spcAft>
              <a:buNone/>
            </a:pPr>
            <a:endParaRPr sz="3314">
              <a:solidFill>
                <a:srgbClr val="343432"/>
              </a:solidFill>
              <a:latin typeface="Quicksand"/>
              <a:ea typeface="Quicksand"/>
              <a:cs typeface="Quicksand"/>
              <a:sym typeface="Quicksand"/>
            </a:endParaRPr>
          </a:p>
          <a:p>
            <a:pPr marL="0" marR="0" lvl="0" indent="0" algn="l" rtl="0">
              <a:spcBef>
                <a:spcPts val="0"/>
              </a:spcBef>
              <a:spcAft>
                <a:spcPts val="0"/>
              </a:spcAft>
              <a:buNone/>
            </a:pPr>
            <a:r>
              <a:rPr lang="en-US" sz="3600">
                <a:solidFill>
                  <a:schemeClr val="dk1"/>
                </a:solidFill>
                <a:latin typeface="Quicksand"/>
                <a:ea typeface="Quicksand"/>
                <a:cs typeface="Quicksand"/>
                <a:sym typeface="Quicksand"/>
              </a:rPr>
              <a:t>(Do bring the Hardware, in case the product/solution is Hardware based)</a:t>
            </a:r>
            <a:endParaRPr/>
          </a:p>
          <a:p>
            <a:pPr marL="0" marR="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p:txBody>
      </p:sp>
      <p:grpSp>
        <p:nvGrpSpPr>
          <p:cNvPr id="205" name="Google Shape;205;p6"/>
          <p:cNvGrpSpPr/>
          <p:nvPr/>
        </p:nvGrpSpPr>
        <p:grpSpPr>
          <a:xfrm>
            <a:off x="-1997137" y="7075637"/>
            <a:ext cx="5578401" cy="5578401"/>
            <a:chOff x="0" y="0"/>
            <a:chExt cx="812800" cy="812800"/>
          </a:xfrm>
        </p:grpSpPr>
        <p:sp>
          <p:nvSpPr>
            <p:cNvPr id="206" name="Google Shape;206;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08" name="Google Shape;208;p6"/>
          <p:cNvGrpSpPr/>
          <p:nvPr/>
        </p:nvGrpSpPr>
        <p:grpSpPr>
          <a:xfrm>
            <a:off x="3684175" y="7005833"/>
            <a:ext cx="452472" cy="452472"/>
            <a:chOff x="0" y="0"/>
            <a:chExt cx="812800" cy="812800"/>
          </a:xfrm>
        </p:grpSpPr>
        <p:sp>
          <p:nvSpPr>
            <p:cNvPr id="209" name="Google Shape;209;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11" name="Google Shape;211;p6"/>
          <p:cNvGrpSpPr/>
          <p:nvPr/>
        </p:nvGrpSpPr>
        <p:grpSpPr>
          <a:xfrm>
            <a:off x="15017929" y="-2533783"/>
            <a:ext cx="5002094" cy="5002094"/>
            <a:chOff x="0" y="0"/>
            <a:chExt cx="812800" cy="812800"/>
          </a:xfrm>
        </p:grpSpPr>
        <p:sp>
          <p:nvSpPr>
            <p:cNvPr id="212" name="Google Shape;212;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14" name="Google Shape;214;p6"/>
          <p:cNvGrpSpPr/>
          <p:nvPr/>
        </p:nvGrpSpPr>
        <p:grpSpPr>
          <a:xfrm>
            <a:off x="4809335" y="8388753"/>
            <a:ext cx="1183417" cy="1183417"/>
            <a:chOff x="0" y="0"/>
            <a:chExt cx="812800" cy="812800"/>
          </a:xfrm>
        </p:grpSpPr>
        <p:sp>
          <p:nvSpPr>
            <p:cNvPr id="215" name="Google Shape;215;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17" name="Google Shape;217;p6"/>
          <p:cNvGrpSpPr/>
          <p:nvPr/>
        </p:nvGrpSpPr>
        <p:grpSpPr>
          <a:xfrm>
            <a:off x="16113923" y="9258300"/>
            <a:ext cx="327444" cy="327444"/>
            <a:chOff x="0" y="0"/>
            <a:chExt cx="812800" cy="812800"/>
          </a:xfrm>
        </p:grpSpPr>
        <p:sp>
          <p:nvSpPr>
            <p:cNvPr id="218" name="Google Shape;218;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6"/>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20" name="Google Shape;220;p6"/>
          <p:cNvGrpSpPr/>
          <p:nvPr/>
        </p:nvGrpSpPr>
        <p:grpSpPr>
          <a:xfrm>
            <a:off x="15648108" y="9258300"/>
            <a:ext cx="327444" cy="327444"/>
            <a:chOff x="0" y="0"/>
            <a:chExt cx="812800" cy="812800"/>
          </a:xfrm>
        </p:grpSpPr>
        <p:sp>
          <p:nvSpPr>
            <p:cNvPr id="221" name="Google Shape;221;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6"/>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23" name="Google Shape;223;p6"/>
          <p:cNvGrpSpPr/>
          <p:nvPr/>
        </p:nvGrpSpPr>
        <p:grpSpPr>
          <a:xfrm>
            <a:off x="15161723" y="9258300"/>
            <a:ext cx="327444" cy="327444"/>
            <a:chOff x="0" y="0"/>
            <a:chExt cx="812800" cy="812800"/>
          </a:xfrm>
        </p:grpSpPr>
        <p:sp>
          <p:nvSpPr>
            <p:cNvPr id="224" name="Google Shape;224;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6"/>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226" name="Google Shape;226;p6"/>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232" name="Google Shape;232;p7"/>
          <p:cNvGrpSpPr/>
          <p:nvPr/>
        </p:nvGrpSpPr>
        <p:grpSpPr>
          <a:xfrm>
            <a:off x="-1997137" y="7075637"/>
            <a:ext cx="5578401" cy="5578401"/>
            <a:chOff x="0" y="0"/>
            <a:chExt cx="812800" cy="812800"/>
          </a:xfrm>
        </p:grpSpPr>
        <p:sp>
          <p:nvSpPr>
            <p:cNvPr id="233" name="Google Shape;233;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35" name="Google Shape;235;p7"/>
          <p:cNvGrpSpPr/>
          <p:nvPr/>
        </p:nvGrpSpPr>
        <p:grpSpPr>
          <a:xfrm>
            <a:off x="3684175" y="7005833"/>
            <a:ext cx="452472" cy="452472"/>
            <a:chOff x="0" y="0"/>
            <a:chExt cx="812800" cy="812800"/>
          </a:xfrm>
        </p:grpSpPr>
        <p:sp>
          <p:nvSpPr>
            <p:cNvPr id="236" name="Google Shape;236;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38" name="Google Shape;238;p7"/>
          <p:cNvGrpSpPr/>
          <p:nvPr/>
        </p:nvGrpSpPr>
        <p:grpSpPr>
          <a:xfrm>
            <a:off x="15017929" y="-2533783"/>
            <a:ext cx="5002094" cy="5002094"/>
            <a:chOff x="0" y="0"/>
            <a:chExt cx="812800" cy="812800"/>
          </a:xfrm>
        </p:grpSpPr>
        <p:sp>
          <p:nvSpPr>
            <p:cNvPr id="239" name="Google Shape;239;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7"/>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41" name="Google Shape;241;p7"/>
          <p:cNvGrpSpPr/>
          <p:nvPr/>
        </p:nvGrpSpPr>
        <p:grpSpPr>
          <a:xfrm>
            <a:off x="4809335" y="8388753"/>
            <a:ext cx="1183417" cy="1183417"/>
            <a:chOff x="0" y="0"/>
            <a:chExt cx="812800" cy="812800"/>
          </a:xfrm>
        </p:grpSpPr>
        <p:sp>
          <p:nvSpPr>
            <p:cNvPr id="242" name="Google Shape;242;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7"/>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44" name="Google Shape;244;p7"/>
          <p:cNvGrpSpPr/>
          <p:nvPr/>
        </p:nvGrpSpPr>
        <p:grpSpPr>
          <a:xfrm>
            <a:off x="16113923" y="9258300"/>
            <a:ext cx="327444" cy="327444"/>
            <a:chOff x="0" y="0"/>
            <a:chExt cx="812800" cy="812800"/>
          </a:xfrm>
        </p:grpSpPr>
        <p:sp>
          <p:nvSpPr>
            <p:cNvPr id="245" name="Google Shape;245;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7"/>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47" name="Google Shape;247;p7"/>
          <p:cNvGrpSpPr/>
          <p:nvPr/>
        </p:nvGrpSpPr>
        <p:grpSpPr>
          <a:xfrm>
            <a:off x="15648108" y="9258300"/>
            <a:ext cx="327444" cy="327444"/>
            <a:chOff x="0" y="0"/>
            <a:chExt cx="812800" cy="812800"/>
          </a:xfrm>
        </p:grpSpPr>
        <p:sp>
          <p:nvSpPr>
            <p:cNvPr id="248" name="Google Shape;248;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7"/>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50" name="Google Shape;250;p7"/>
          <p:cNvGrpSpPr/>
          <p:nvPr/>
        </p:nvGrpSpPr>
        <p:grpSpPr>
          <a:xfrm>
            <a:off x="15161723" y="9258300"/>
            <a:ext cx="327444" cy="327444"/>
            <a:chOff x="0" y="0"/>
            <a:chExt cx="812800" cy="812800"/>
          </a:xfrm>
        </p:grpSpPr>
        <p:sp>
          <p:nvSpPr>
            <p:cNvPr id="251" name="Google Shape;251;p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7"/>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253" name="Google Shape;253;p7"/>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4" name="Google Shape;254;p7"/>
          <p:cNvGrpSpPr/>
          <p:nvPr/>
        </p:nvGrpSpPr>
        <p:grpSpPr>
          <a:xfrm>
            <a:off x="11408873" y="1640161"/>
            <a:ext cx="6879127" cy="6468959"/>
            <a:chOff x="0" y="-19050"/>
            <a:chExt cx="1811787" cy="1703759"/>
          </a:xfrm>
        </p:grpSpPr>
        <p:sp>
          <p:nvSpPr>
            <p:cNvPr id="255" name="Google Shape;255;p7"/>
            <p:cNvSpPr/>
            <p:nvPr/>
          </p:nvSpPr>
          <p:spPr>
            <a:xfrm>
              <a:off x="0" y="0"/>
              <a:ext cx="1811787" cy="1684709"/>
            </a:xfrm>
            <a:custGeom>
              <a:avLst/>
              <a:gdLst/>
              <a:ahLst/>
              <a:cxnLst/>
              <a:rect l="l" t="t" r="r" b="b"/>
              <a:pathLst>
                <a:path w="1811787" h="1684709" extrusionOk="0">
                  <a:moveTo>
                    <a:pt x="0" y="0"/>
                  </a:moveTo>
                  <a:lnTo>
                    <a:pt x="1811787" y="0"/>
                  </a:lnTo>
                  <a:lnTo>
                    <a:pt x="1811787" y="1684709"/>
                  </a:lnTo>
                  <a:lnTo>
                    <a:pt x="0" y="1684709"/>
                  </a:lnTo>
                  <a:close/>
                </a:path>
              </a:pathLst>
            </a:custGeom>
            <a:solidFill>
              <a:srgbClr val="8DCACA"/>
            </a:solidFill>
            <a:ln>
              <a:noFill/>
            </a:ln>
          </p:spPr>
        </p:sp>
        <p:sp>
          <p:nvSpPr>
            <p:cNvPr id="256" name="Google Shape;256;p7"/>
            <p:cNvSpPr txBox="1"/>
            <p:nvPr/>
          </p:nvSpPr>
          <p:spPr>
            <a:xfrm>
              <a:off x="0" y="-19050"/>
              <a:ext cx="1811787" cy="1703759"/>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257" name="Google Shape;257;p7"/>
          <p:cNvSpPr/>
          <p:nvPr/>
        </p:nvSpPr>
        <p:spPr>
          <a:xfrm>
            <a:off x="12516374" y="2474246"/>
            <a:ext cx="4984059" cy="4984059"/>
          </a:xfrm>
          <a:custGeom>
            <a:avLst/>
            <a:gdLst/>
            <a:ahLst/>
            <a:cxnLst/>
            <a:rect l="l" t="t" r="r" b="b"/>
            <a:pathLst>
              <a:path w="4984059" h="4984059" extrusionOk="0">
                <a:moveTo>
                  <a:pt x="0" y="0"/>
                </a:moveTo>
                <a:lnTo>
                  <a:pt x="4984059" y="0"/>
                </a:lnTo>
                <a:lnTo>
                  <a:pt x="4984059" y="4984059"/>
                </a:lnTo>
                <a:lnTo>
                  <a:pt x="0" y="4984059"/>
                </a:lnTo>
                <a:lnTo>
                  <a:pt x="0" y="0"/>
                </a:lnTo>
                <a:close/>
              </a:path>
            </a:pathLst>
          </a:custGeom>
          <a:blipFill rotWithShape="1">
            <a:blip r:embed="rId4">
              <a:alphaModFix/>
            </a:blip>
            <a:stretch>
              <a:fillRect/>
            </a:stretch>
          </a:blipFill>
          <a:ln>
            <a:noFill/>
          </a:ln>
        </p:spPr>
      </p:sp>
      <p:sp>
        <p:nvSpPr>
          <p:cNvPr id="258" name="Google Shape;258;p7"/>
          <p:cNvSpPr txBox="1"/>
          <p:nvPr/>
        </p:nvSpPr>
        <p:spPr>
          <a:xfrm>
            <a:off x="1777219" y="3063554"/>
            <a:ext cx="6064200" cy="7221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692" b="1">
                <a:solidFill>
                  <a:srgbClr val="191919"/>
                </a:solidFill>
                <a:latin typeface="Roboto Condensed"/>
                <a:ea typeface="Roboto Condensed"/>
                <a:cs typeface="Roboto Condensed"/>
                <a:sym typeface="Roboto Condensed"/>
              </a:rPr>
              <a:t>5. Customer Segments</a:t>
            </a:r>
            <a:endParaRPr/>
          </a:p>
        </p:txBody>
      </p:sp>
      <p:sp>
        <p:nvSpPr>
          <p:cNvPr id="259" name="Google Shape;259;p7"/>
          <p:cNvSpPr txBox="1"/>
          <p:nvPr/>
        </p:nvSpPr>
        <p:spPr>
          <a:xfrm>
            <a:off x="1777219" y="4005250"/>
            <a:ext cx="8902828" cy="272452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Who are the specific groups of people experiencing this problem? </a:t>
            </a:r>
            <a:endParaRPr/>
          </a:p>
          <a:p>
            <a:pPr marL="0" marR="0" lvl="0" indent="0" algn="l" rtl="0">
              <a:lnSpc>
                <a:spcPct val="50000"/>
              </a:lnSpc>
              <a:spcBef>
                <a:spcPts val="0"/>
              </a:spcBef>
              <a:spcAft>
                <a:spcPts val="0"/>
              </a:spcAft>
              <a:buNone/>
            </a:pPr>
            <a:endParaRPr sz="3314">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Explain your customer persona.</a:t>
            </a:r>
            <a:endParaRPr/>
          </a:p>
          <a:p>
            <a:pPr marL="0" marR="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Shape 264"/>
        <p:cNvGrpSpPr/>
        <p:nvPr/>
      </p:nvGrpSpPr>
      <p:grpSpPr>
        <a:xfrm>
          <a:off x="0" y="0"/>
          <a:ext cx="0" cy="0"/>
          <a:chOff x="0" y="0"/>
          <a:chExt cx="0" cy="0"/>
        </a:xfrm>
      </p:grpSpPr>
      <p:sp>
        <p:nvSpPr>
          <p:cNvPr id="265" name="Google Shape;265;p8"/>
          <p:cNvSpPr/>
          <p:nvPr/>
        </p:nvSpPr>
        <p:spPr>
          <a:xfrm>
            <a:off x="14592460" y="2868946"/>
            <a:ext cx="3695540" cy="7418054"/>
          </a:xfrm>
          <a:custGeom>
            <a:avLst/>
            <a:gdLst/>
            <a:ahLst/>
            <a:cxnLst/>
            <a:rect l="l" t="t" r="r" b="b"/>
            <a:pathLst>
              <a:path w="3695540" h="7418054" extrusionOk="0">
                <a:moveTo>
                  <a:pt x="0" y="0"/>
                </a:moveTo>
                <a:lnTo>
                  <a:pt x="3695540" y="0"/>
                </a:lnTo>
                <a:lnTo>
                  <a:pt x="3695540" y="7418054"/>
                </a:lnTo>
                <a:lnTo>
                  <a:pt x="0" y="7418054"/>
                </a:lnTo>
                <a:lnTo>
                  <a:pt x="0" y="0"/>
                </a:lnTo>
                <a:close/>
              </a:path>
            </a:pathLst>
          </a:custGeom>
          <a:blipFill rotWithShape="1">
            <a:blip r:embed="rId3">
              <a:alphaModFix/>
            </a:blip>
            <a:stretch>
              <a:fillRect/>
            </a:stretch>
          </a:blipFill>
          <a:ln>
            <a:noFill/>
          </a:ln>
        </p:spPr>
      </p:sp>
      <p:sp>
        <p:nvSpPr>
          <p:cNvPr id="266" name="Google Shape;266;p8"/>
          <p:cNvSpPr txBox="1"/>
          <p:nvPr/>
        </p:nvSpPr>
        <p:spPr>
          <a:xfrm>
            <a:off x="2095642" y="1464213"/>
            <a:ext cx="7362900" cy="789300"/>
          </a:xfrm>
          <a:prstGeom prst="rect">
            <a:avLst/>
          </a:prstGeom>
          <a:noFill/>
          <a:ln>
            <a:noFill/>
          </a:ln>
        </p:spPr>
        <p:txBody>
          <a:bodyPr spcFirstLastPara="1" wrap="square" lIns="0" tIns="0" rIns="0" bIns="0" anchor="t" anchorCtr="0">
            <a:spAutoFit/>
          </a:bodyPr>
          <a:lstStyle/>
          <a:p>
            <a:pPr marL="0" marR="0" lvl="0" indent="0" algn="l" rtl="0">
              <a:lnSpc>
                <a:spcPct val="140003"/>
              </a:lnSpc>
              <a:spcBef>
                <a:spcPts val="0"/>
              </a:spcBef>
              <a:spcAft>
                <a:spcPts val="0"/>
              </a:spcAft>
              <a:buNone/>
            </a:pPr>
            <a:r>
              <a:rPr lang="en-US" sz="5127" b="1">
                <a:solidFill>
                  <a:srgbClr val="191919"/>
                </a:solidFill>
                <a:latin typeface="Roboto Condensed"/>
                <a:ea typeface="Roboto Condensed"/>
                <a:cs typeface="Roboto Condensed"/>
                <a:sym typeface="Roboto Condensed"/>
              </a:rPr>
              <a:t>6. Market Sizing</a:t>
            </a:r>
            <a:endParaRPr sz="5127" b="1">
              <a:solidFill>
                <a:srgbClr val="191919"/>
              </a:solidFill>
              <a:latin typeface="Roboto Condensed"/>
              <a:ea typeface="Roboto Condensed"/>
              <a:cs typeface="Roboto Condensed"/>
              <a:sym typeface="Roboto Condensed"/>
            </a:endParaRPr>
          </a:p>
        </p:txBody>
      </p:sp>
      <p:sp>
        <p:nvSpPr>
          <p:cNvPr id="267" name="Google Shape;267;p8"/>
          <p:cNvSpPr/>
          <p:nvPr/>
        </p:nvSpPr>
        <p:spPr>
          <a:xfrm rot="10800000">
            <a:off x="-465877" y="-4635036"/>
            <a:ext cx="3695540" cy="7418054"/>
          </a:xfrm>
          <a:custGeom>
            <a:avLst/>
            <a:gdLst/>
            <a:ahLst/>
            <a:cxnLst/>
            <a:rect l="l" t="t" r="r" b="b"/>
            <a:pathLst>
              <a:path w="3695540" h="7418054" extrusionOk="0">
                <a:moveTo>
                  <a:pt x="0" y="0"/>
                </a:moveTo>
                <a:lnTo>
                  <a:pt x="3695540" y="0"/>
                </a:lnTo>
                <a:lnTo>
                  <a:pt x="3695540" y="7418054"/>
                </a:lnTo>
                <a:lnTo>
                  <a:pt x="0" y="7418054"/>
                </a:lnTo>
                <a:lnTo>
                  <a:pt x="0" y="0"/>
                </a:lnTo>
                <a:close/>
              </a:path>
            </a:pathLst>
          </a:custGeom>
          <a:blipFill rotWithShape="1">
            <a:blip r:embed="rId4">
              <a:alphaModFix/>
            </a:blip>
            <a:stretch>
              <a:fillRect/>
            </a:stretch>
          </a:blipFill>
          <a:ln>
            <a:noFill/>
          </a:ln>
        </p:spPr>
      </p:sp>
      <p:grpSp>
        <p:nvGrpSpPr>
          <p:cNvPr id="268" name="Google Shape;268;p8"/>
          <p:cNvGrpSpPr/>
          <p:nvPr/>
        </p:nvGrpSpPr>
        <p:grpSpPr>
          <a:xfrm rot="10800000">
            <a:off x="2059252" y="3775582"/>
            <a:ext cx="4094999" cy="4987638"/>
            <a:chOff x="0" y="-38100"/>
            <a:chExt cx="2041606" cy="2486641"/>
          </a:xfrm>
        </p:grpSpPr>
        <p:sp>
          <p:nvSpPr>
            <p:cNvPr id="269" name="Google Shape;269;p8"/>
            <p:cNvSpPr/>
            <p:nvPr/>
          </p:nvSpPr>
          <p:spPr>
            <a:xfrm>
              <a:off x="0" y="0"/>
              <a:ext cx="2041606" cy="2448541"/>
            </a:xfrm>
            <a:custGeom>
              <a:avLst/>
              <a:gdLst/>
              <a:ahLst/>
              <a:cxnLst/>
              <a:rect l="l" t="t" r="r" b="b"/>
              <a:pathLst>
                <a:path w="2041606" h="2448541" extrusionOk="0">
                  <a:moveTo>
                    <a:pt x="60499" y="0"/>
                  </a:moveTo>
                  <a:lnTo>
                    <a:pt x="1981108" y="0"/>
                  </a:lnTo>
                  <a:cubicBezTo>
                    <a:pt x="2014520" y="0"/>
                    <a:pt x="2041606" y="27086"/>
                    <a:pt x="2041606" y="60499"/>
                  </a:cubicBezTo>
                  <a:lnTo>
                    <a:pt x="2041606" y="2388043"/>
                  </a:lnTo>
                  <a:cubicBezTo>
                    <a:pt x="2041606" y="2421455"/>
                    <a:pt x="2014520" y="2448541"/>
                    <a:pt x="1981108" y="2448541"/>
                  </a:cubicBezTo>
                  <a:lnTo>
                    <a:pt x="60499" y="2448541"/>
                  </a:lnTo>
                  <a:cubicBezTo>
                    <a:pt x="27086" y="2448541"/>
                    <a:pt x="0" y="2421455"/>
                    <a:pt x="0" y="2388043"/>
                  </a:cubicBezTo>
                  <a:lnTo>
                    <a:pt x="0" y="60499"/>
                  </a:lnTo>
                  <a:cubicBezTo>
                    <a:pt x="0" y="27086"/>
                    <a:pt x="27086" y="0"/>
                    <a:pt x="60499" y="0"/>
                  </a:cubicBezTo>
                  <a:close/>
                </a:path>
              </a:pathLst>
            </a:custGeom>
            <a:solidFill>
              <a:srgbClr val="FFFFFF"/>
            </a:solidFill>
            <a:ln w="123825" cap="rnd" cmpd="sng">
              <a:solidFill>
                <a:srgbClr val="E2E3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txBox="1"/>
            <p:nvPr/>
          </p:nvSpPr>
          <p:spPr>
            <a:xfrm>
              <a:off x="0" y="-38100"/>
              <a:ext cx="2041606" cy="2486641"/>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sp>
        <p:nvSpPr>
          <p:cNvPr id="271" name="Google Shape;271;p8"/>
          <p:cNvSpPr/>
          <p:nvPr/>
        </p:nvSpPr>
        <p:spPr>
          <a:xfrm>
            <a:off x="2701970" y="3775582"/>
            <a:ext cx="2809564" cy="1309540"/>
          </a:xfrm>
          <a:custGeom>
            <a:avLst/>
            <a:gdLst/>
            <a:ahLst/>
            <a:cxnLst/>
            <a:rect l="l" t="t" r="r" b="b"/>
            <a:pathLst>
              <a:path w="2809564" h="1309540" extrusionOk="0">
                <a:moveTo>
                  <a:pt x="0" y="0"/>
                </a:moveTo>
                <a:lnTo>
                  <a:pt x="2809564" y="0"/>
                </a:lnTo>
                <a:lnTo>
                  <a:pt x="2809564" y="1309540"/>
                </a:lnTo>
                <a:lnTo>
                  <a:pt x="0" y="1309540"/>
                </a:lnTo>
                <a:lnTo>
                  <a:pt x="0" y="0"/>
                </a:lnTo>
                <a:close/>
              </a:path>
            </a:pathLst>
          </a:custGeom>
          <a:blipFill rotWithShape="1">
            <a:blip r:embed="rId5">
              <a:alphaModFix/>
            </a:blip>
            <a:stretch>
              <a:fillRect t="-114541"/>
            </a:stretch>
          </a:blipFill>
          <a:ln>
            <a:noFill/>
          </a:ln>
        </p:spPr>
      </p:sp>
      <p:grpSp>
        <p:nvGrpSpPr>
          <p:cNvPr id="272" name="Google Shape;272;p8"/>
          <p:cNvGrpSpPr/>
          <p:nvPr/>
        </p:nvGrpSpPr>
        <p:grpSpPr>
          <a:xfrm rot="10800000">
            <a:off x="6655591" y="3775582"/>
            <a:ext cx="4094999" cy="4987638"/>
            <a:chOff x="0" y="-38100"/>
            <a:chExt cx="2041606" cy="2486641"/>
          </a:xfrm>
        </p:grpSpPr>
        <p:sp>
          <p:nvSpPr>
            <p:cNvPr id="273" name="Google Shape;273;p8"/>
            <p:cNvSpPr/>
            <p:nvPr/>
          </p:nvSpPr>
          <p:spPr>
            <a:xfrm>
              <a:off x="0" y="0"/>
              <a:ext cx="2041606" cy="2448541"/>
            </a:xfrm>
            <a:custGeom>
              <a:avLst/>
              <a:gdLst/>
              <a:ahLst/>
              <a:cxnLst/>
              <a:rect l="l" t="t" r="r" b="b"/>
              <a:pathLst>
                <a:path w="2041606" h="2448541" extrusionOk="0">
                  <a:moveTo>
                    <a:pt x="60499" y="0"/>
                  </a:moveTo>
                  <a:lnTo>
                    <a:pt x="1981108" y="0"/>
                  </a:lnTo>
                  <a:cubicBezTo>
                    <a:pt x="2014520" y="0"/>
                    <a:pt x="2041606" y="27086"/>
                    <a:pt x="2041606" y="60499"/>
                  </a:cubicBezTo>
                  <a:lnTo>
                    <a:pt x="2041606" y="2388043"/>
                  </a:lnTo>
                  <a:cubicBezTo>
                    <a:pt x="2041606" y="2421455"/>
                    <a:pt x="2014520" y="2448541"/>
                    <a:pt x="1981108" y="2448541"/>
                  </a:cubicBezTo>
                  <a:lnTo>
                    <a:pt x="60499" y="2448541"/>
                  </a:lnTo>
                  <a:cubicBezTo>
                    <a:pt x="27086" y="2448541"/>
                    <a:pt x="0" y="2421455"/>
                    <a:pt x="0" y="2388043"/>
                  </a:cubicBezTo>
                  <a:lnTo>
                    <a:pt x="0" y="60499"/>
                  </a:lnTo>
                  <a:cubicBezTo>
                    <a:pt x="0" y="27086"/>
                    <a:pt x="27086" y="0"/>
                    <a:pt x="60499" y="0"/>
                  </a:cubicBezTo>
                  <a:close/>
                </a:path>
              </a:pathLst>
            </a:custGeom>
            <a:solidFill>
              <a:srgbClr val="FFFFFF"/>
            </a:solidFill>
            <a:ln w="123825" cap="rnd" cmpd="sng">
              <a:solidFill>
                <a:srgbClr val="E2E3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txBox="1"/>
            <p:nvPr/>
          </p:nvSpPr>
          <p:spPr>
            <a:xfrm>
              <a:off x="0" y="-38100"/>
              <a:ext cx="2041606" cy="2486641"/>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sp>
        <p:nvSpPr>
          <p:cNvPr id="275" name="Google Shape;275;p8"/>
          <p:cNvSpPr/>
          <p:nvPr/>
        </p:nvSpPr>
        <p:spPr>
          <a:xfrm>
            <a:off x="7298308" y="3775582"/>
            <a:ext cx="2809564" cy="1309540"/>
          </a:xfrm>
          <a:custGeom>
            <a:avLst/>
            <a:gdLst/>
            <a:ahLst/>
            <a:cxnLst/>
            <a:rect l="l" t="t" r="r" b="b"/>
            <a:pathLst>
              <a:path w="2809564" h="1309540" extrusionOk="0">
                <a:moveTo>
                  <a:pt x="0" y="0"/>
                </a:moveTo>
                <a:lnTo>
                  <a:pt x="2809565" y="0"/>
                </a:lnTo>
                <a:lnTo>
                  <a:pt x="2809565" y="1309540"/>
                </a:lnTo>
                <a:lnTo>
                  <a:pt x="0" y="1309540"/>
                </a:lnTo>
                <a:lnTo>
                  <a:pt x="0" y="0"/>
                </a:lnTo>
                <a:close/>
              </a:path>
            </a:pathLst>
          </a:custGeom>
          <a:blipFill rotWithShape="1">
            <a:blip r:embed="rId6">
              <a:alphaModFix/>
            </a:blip>
            <a:stretch>
              <a:fillRect t="-114541"/>
            </a:stretch>
          </a:blipFill>
          <a:ln>
            <a:noFill/>
          </a:ln>
        </p:spPr>
      </p:sp>
      <p:grpSp>
        <p:nvGrpSpPr>
          <p:cNvPr id="276" name="Google Shape;276;p8"/>
          <p:cNvGrpSpPr/>
          <p:nvPr/>
        </p:nvGrpSpPr>
        <p:grpSpPr>
          <a:xfrm rot="10800000">
            <a:off x="11249311" y="3775582"/>
            <a:ext cx="4094999" cy="4987638"/>
            <a:chOff x="0" y="-38100"/>
            <a:chExt cx="2041606" cy="2486641"/>
          </a:xfrm>
        </p:grpSpPr>
        <p:sp>
          <p:nvSpPr>
            <p:cNvPr id="277" name="Google Shape;277;p8"/>
            <p:cNvSpPr/>
            <p:nvPr/>
          </p:nvSpPr>
          <p:spPr>
            <a:xfrm>
              <a:off x="0" y="0"/>
              <a:ext cx="2041606" cy="2448541"/>
            </a:xfrm>
            <a:custGeom>
              <a:avLst/>
              <a:gdLst/>
              <a:ahLst/>
              <a:cxnLst/>
              <a:rect l="l" t="t" r="r" b="b"/>
              <a:pathLst>
                <a:path w="2041606" h="2448541" extrusionOk="0">
                  <a:moveTo>
                    <a:pt x="60499" y="0"/>
                  </a:moveTo>
                  <a:lnTo>
                    <a:pt x="1981108" y="0"/>
                  </a:lnTo>
                  <a:cubicBezTo>
                    <a:pt x="2014520" y="0"/>
                    <a:pt x="2041606" y="27086"/>
                    <a:pt x="2041606" y="60499"/>
                  </a:cubicBezTo>
                  <a:lnTo>
                    <a:pt x="2041606" y="2388043"/>
                  </a:lnTo>
                  <a:cubicBezTo>
                    <a:pt x="2041606" y="2421455"/>
                    <a:pt x="2014520" y="2448541"/>
                    <a:pt x="1981108" y="2448541"/>
                  </a:cubicBezTo>
                  <a:lnTo>
                    <a:pt x="60499" y="2448541"/>
                  </a:lnTo>
                  <a:cubicBezTo>
                    <a:pt x="27086" y="2448541"/>
                    <a:pt x="0" y="2421455"/>
                    <a:pt x="0" y="2388043"/>
                  </a:cubicBezTo>
                  <a:lnTo>
                    <a:pt x="0" y="60499"/>
                  </a:lnTo>
                  <a:cubicBezTo>
                    <a:pt x="0" y="27086"/>
                    <a:pt x="27086" y="0"/>
                    <a:pt x="60499" y="0"/>
                  </a:cubicBezTo>
                  <a:close/>
                </a:path>
              </a:pathLst>
            </a:custGeom>
            <a:solidFill>
              <a:srgbClr val="FFFFFF"/>
            </a:solidFill>
            <a:ln w="123825" cap="rnd" cmpd="sng">
              <a:solidFill>
                <a:srgbClr val="E2E3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txBox="1"/>
            <p:nvPr/>
          </p:nvSpPr>
          <p:spPr>
            <a:xfrm>
              <a:off x="0" y="-38100"/>
              <a:ext cx="2041606" cy="2486641"/>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sp>
        <p:nvSpPr>
          <p:cNvPr id="279" name="Google Shape;279;p8"/>
          <p:cNvSpPr/>
          <p:nvPr/>
        </p:nvSpPr>
        <p:spPr>
          <a:xfrm>
            <a:off x="11892028" y="3775582"/>
            <a:ext cx="2809564" cy="1309540"/>
          </a:xfrm>
          <a:custGeom>
            <a:avLst/>
            <a:gdLst/>
            <a:ahLst/>
            <a:cxnLst/>
            <a:rect l="l" t="t" r="r" b="b"/>
            <a:pathLst>
              <a:path w="2809564" h="1309540" extrusionOk="0">
                <a:moveTo>
                  <a:pt x="0" y="0"/>
                </a:moveTo>
                <a:lnTo>
                  <a:pt x="2809564" y="0"/>
                </a:lnTo>
                <a:lnTo>
                  <a:pt x="2809564" y="1309540"/>
                </a:lnTo>
                <a:lnTo>
                  <a:pt x="0" y="1309540"/>
                </a:lnTo>
                <a:lnTo>
                  <a:pt x="0" y="0"/>
                </a:lnTo>
                <a:close/>
              </a:path>
            </a:pathLst>
          </a:custGeom>
          <a:blipFill rotWithShape="1">
            <a:blip r:embed="rId6">
              <a:alphaModFix/>
            </a:blip>
            <a:stretch>
              <a:fillRect t="-114541"/>
            </a:stretch>
          </a:blipFill>
          <a:ln>
            <a:noFill/>
          </a:ln>
        </p:spPr>
      </p:sp>
      <p:sp>
        <p:nvSpPr>
          <p:cNvPr id="280" name="Google Shape;280;p8"/>
          <p:cNvSpPr txBox="1"/>
          <p:nvPr/>
        </p:nvSpPr>
        <p:spPr>
          <a:xfrm>
            <a:off x="2547092" y="6382146"/>
            <a:ext cx="3160930" cy="1212003"/>
          </a:xfrm>
          <a:prstGeom prst="rect">
            <a:avLst/>
          </a:prstGeom>
          <a:noFill/>
          <a:ln>
            <a:noFill/>
          </a:ln>
        </p:spPr>
        <p:txBody>
          <a:bodyPr spcFirstLastPara="1" wrap="square" lIns="0" tIns="0" rIns="0" bIns="0" anchor="t" anchorCtr="0">
            <a:spAutoFit/>
          </a:bodyPr>
          <a:lstStyle/>
          <a:p>
            <a:pPr marL="0" marR="0" lvl="0" indent="0" algn="ctr" rtl="0">
              <a:lnSpc>
                <a:spcPct val="106020"/>
              </a:lnSpc>
              <a:spcBef>
                <a:spcPts val="0"/>
              </a:spcBef>
              <a:spcAft>
                <a:spcPts val="0"/>
              </a:spcAft>
              <a:buNone/>
            </a:pPr>
            <a:r>
              <a:rPr lang="en-US" sz="2990">
                <a:solidFill>
                  <a:srgbClr val="343432"/>
                </a:solidFill>
                <a:latin typeface="Quicksand"/>
                <a:ea typeface="Quicksand"/>
                <a:cs typeface="Quicksand"/>
                <a:sym typeface="Quicksand"/>
              </a:rPr>
              <a:t>Total Addressable Market </a:t>
            </a:r>
            <a:endParaRPr/>
          </a:p>
        </p:txBody>
      </p:sp>
      <p:sp>
        <p:nvSpPr>
          <p:cNvPr id="281" name="Google Shape;281;p8"/>
          <p:cNvSpPr txBox="1"/>
          <p:nvPr/>
        </p:nvSpPr>
        <p:spPr>
          <a:xfrm>
            <a:off x="2703459" y="5334796"/>
            <a:ext cx="2747973" cy="669084"/>
          </a:xfrm>
          <a:prstGeom prst="rect">
            <a:avLst/>
          </a:prstGeom>
          <a:noFill/>
          <a:ln>
            <a:noFill/>
          </a:ln>
        </p:spPr>
        <p:txBody>
          <a:bodyPr spcFirstLastPara="1" wrap="square" lIns="0" tIns="0" rIns="0" bIns="0" anchor="t" anchorCtr="0">
            <a:spAutoFit/>
          </a:bodyPr>
          <a:lstStyle/>
          <a:p>
            <a:pPr marL="0" marR="0" lvl="0" indent="0" algn="ctr" rtl="0">
              <a:lnSpc>
                <a:spcPct val="127991"/>
              </a:lnSpc>
              <a:spcBef>
                <a:spcPts val="0"/>
              </a:spcBef>
              <a:spcAft>
                <a:spcPts val="0"/>
              </a:spcAft>
              <a:buNone/>
            </a:pPr>
            <a:r>
              <a:rPr lang="en-US" sz="4162" b="1">
                <a:solidFill>
                  <a:srgbClr val="343432"/>
                </a:solidFill>
                <a:latin typeface="Roboto Condensed"/>
                <a:ea typeface="Roboto Condensed"/>
                <a:cs typeface="Roboto Condensed"/>
                <a:sym typeface="Roboto Condensed"/>
              </a:rPr>
              <a:t>TAM</a:t>
            </a:r>
            <a:endParaRPr/>
          </a:p>
        </p:txBody>
      </p:sp>
      <p:sp>
        <p:nvSpPr>
          <p:cNvPr id="282" name="Google Shape;282;p8"/>
          <p:cNvSpPr txBox="1"/>
          <p:nvPr/>
        </p:nvSpPr>
        <p:spPr>
          <a:xfrm>
            <a:off x="3463874" y="3856807"/>
            <a:ext cx="1227144" cy="793195"/>
          </a:xfrm>
          <a:prstGeom prst="rect">
            <a:avLst/>
          </a:prstGeom>
          <a:noFill/>
          <a:ln>
            <a:noFill/>
          </a:ln>
        </p:spPr>
        <p:txBody>
          <a:bodyPr spcFirstLastPara="1" wrap="square" lIns="0" tIns="0" rIns="0" bIns="0" anchor="t" anchorCtr="0">
            <a:spAutoFit/>
          </a:bodyPr>
          <a:lstStyle/>
          <a:p>
            <a:pPr marL="0" marR="0" lvl="0" indent="0" algn="ctr" rtl="0">
              <a:lnSpc>
                <a:spcPct val="128006"/>
              </a:lnSpc>
              <a:spcBef>
                <a:spcPts val="0"/>
              </a:spcBef>
              <a:spcAft>
                <a:spcPts val="0"/>
              </a:spcAft>
              <a:buNone/>
            </a:pPr>
            <a:r>
              <a:rPr lang="en-US" sz="5006" b="1">
                <a:solidFill>
                  <a:srgbClr val="F8F8F8"/>
                </a:solidFill>
                <a:latin typeface="Arial"/>
                <a:ea typeface="Arial"/>
                <a:cs typeface="Arial"/>
                <a:sym typeface="Arial"/>
              </a:rPr>
              <a:t>01</a:t>
            </a:r>
            <a:endParaRPr/>
          </a:p>
        </p:txBody>
      </p:sp>
      <p:sp>
        <p:nvSpPr>
          <p:cNvPr id="283" name="Google Shape;283;p8"/>
          <p:cNvSpPr txBox="1"/>
          <p:nvPr/>
        </p:nvSpPr>
        <p:spPr>
          <a:xfrm>
            <a:off x="8060213" y="3856807"/>
            <a:ext cx="1227144" cy="793195"/>
          </a:xfrm>
          <a:prstGeom prst="rect">
            <a:avLst/>
          </a:prstGeom>
          <a:noFill/>
          <a:ln>
            <a:noFill/>
          </a:ln>
        </p:spPr>
        <p:txBody>
          <a:bodyPr spcFirstLastPara="1" wrap="square" lIns="0" tIns="0" rIns="0" bIns="0" anchor="t" anchorCtr="0">
            <a:spAutoFit/>
          </a:bodyPr>
          <a:lstStyle/>
          <a:p>
            <a:pPr marL="0" marR="0" lvl="0" indent="0" algn="ctr" rtl="0">
              <a:lnSpc>
                <a:spcPct val="128006"/>
              </a:lnSpc>
              <a:spcBef>
                <a:spcPts val="0"/>
              </a:spcBef>
              <a:spcAft>
                <a:spcPts val="0"/>
              </a:spcAft>
              <a:buNone/>
            </a:pPr>
            <a:r>
              <a:rPr lang="en-US" sz="5006" b="1">
                <a:solidFill>
                  <a:srgbClr val="F8F8F8"/>
                </a:solidFill>
                <a:latin typeface="Arial"/>
                <a:ea typeface="Arial"/>
                <a:cs typeface="Arial"/>
                <a:sym typeface="Arial"/>
              </a:rPr>
              <a:t>02</a:t>
            </a:r>
            <a:endParaRPr/>
          </a:p>
        </p:txBody>
      </p:sp>
      <p:sp>
        <p:nvSpPr>
          <p:cNvPr id="284" name="Google Shape;284;p8"/>
          <p:cNvSpPr txBox="1"/>
          <p:nvPr/>
        </p:nvSpPr>
        <p:spPr>
          <a:xfrm>
            <a:off x="12653932" y="3856807"/>
            <a:ext cx="1227144" cy="793195"/>
          </a:xfrm>
          <a:prstGeom prst="rect">
            <a:avLst/>
          </a:prstGeom>
          <a:noFill/>
          <a:ln>
            <a:noFill/>
          </a:ln>
        </p:spPr>
        <p:txBody>
          <a:bodyPr spcFirstLastPara="1" wrap="square" lIns="0" tIns="0" rIns="0" bIns="0" anchor="t" anchorCtr="0">
            <a:spAutoFit/>
          </a:bodyPr>
          <a:lstStyle/>
          <a:p>
            <a:pPr marL="0" marR="0" lvl="0" indent="0" algn="ctr" rtl="0">
              <a:lnSpc>
                <a:spcPct val="128006"/>
              </a:lnSpc>
              <a:spcBef>
                <a:spcPts val="0"/>
              </a:spcBef>
              <a:spcAft>
                <a:spcPts val="0"/>
              </a:spcAft>
              <a:buNone/>
            </a:pPr>
            <a:r>
              <a:rPr lang="en-US" sz="5006" b="1">
                <a:solidFill>
                  <a:srgbClr val="F8F8F8"/>
                </a:solidFill>
                <a:latin typeface="Arial"/>
                <a:ea typeface="Arial"/>
                <a:cs typeface="Arial"/>
                <a:sym typeface="Arial"/>
              </a:rPr>
              <a:t>03</a:t>
            </a:r>
            <a:endParaRPr/>
          </a:p>
        </p:txBody>
      </p:sp>
      <p:sp>
        <p:nvSpPr>
          <p:cNvPr id="285" name="Google Shape;285;p8"/>
          <p:cNvSpPr txBox="1"/>
          <p:nvPr/>
        </p:nvSpPr>
        <p:spPr>
          <a:xfrm>
            <a:off x="7121316" y="6382146"/>
            <a:ext cx="3160930" cy="813026"/>
          </a:xfrm>
          <a:prstGeom prst="rect">
            <a:avLst/>
          </a:prstGeom>
          <a:noFill/>
          <a:ln>
            <a:noFill/>
          </a:ln>
        </p:spPr>
        <p:txBody>
          <a:bodyPr spcFirstLastPara="1" wrap="square" lIns="0" tIns="0" rIns="0" bIns="0" anchor="t" anchorCtr="0">
            <a:spAutoFit/>
          </a:bodyPr>
          <a:lstStyle/>
          <a:p>
            <a:pPr marL="0" marR="0" lvl="0" indent="0" algn="ctr" rtl="0">
              <a:lnSpc>
                <a:spcPct val="106020"/>
              </a:lnSpc>
              <a:spcBef>
                <a:spcPts val="0"/>
              </a:spcBef>
              <a:spcAft>
                <a:spcPts val="0"/>
              </a:spcAft>
              <a:buNone/>
            </a:pPr>
            <a:r>
              <a:rPr lang="en-US" sz="2990">
                <a:solidFill>
                  <a:srgbClr val="343432"/>
                </a:solidFill>
                <a:latin typeface="Quicksand"/>
                <a:ea typeface="Quicksand"/>
                <a:cs typeface="Quicksand"/>
                <a:sym typeface="Quicksand"/>
              </a:rPr>
              <a:t>Serviceable Attainable Market</a:t>
            </a:r>
            <a:endParaRPr/>
          </a:p>
        </p:txBody>
      </p:sp>
      <p:sp>
        <p:nvSpPr>
          <p:cNvPr id="286" name="Google Shape;286;p8"/>
          <p:cNvSpPr txBox="1"/>
          <p:nvPr/>
        </p:nvSpPr>
        <p:spPr>
          <a:xfrm>
            <a:off x="7277683" y="5334796"/>
            <a:ext cx="2747973" cy="669084"/>
          </a:xfrm>
          <a:prstGeom prst="rect">
            <a:avLst/>
          </a:prstGeom>
          <a:noFill/>
          <a:ln>
            <a:noFill/>
          </a:ln>
        </p:spPr>
        <p:txBody>
          <a:bodyPr spcFirstLastPara="1" wrap="square" lIns="0" tIns="0" rIns="0" bIns="0" anchor="t" anchorCtr="0">
            <a:spAutoFit/>
          </a:bodyPr>
          <a:lstStyle/>
          <a:p>
            <a:pPr marL="0" marR="0" lvl="0" indent="0" algn="ctr" rtl="0">
              <a:lnSpc>
                <a:spcPct val="127991"/>
              </a:lnSpc>
              <a:spcBef>
                <a:spcPts val="0"/>
              </a:spcBef>
              <a:spcAft>
                <a:spcPts val="0"/>
              </a:spcAft>
              <a:buNone/>
            </a:pPr>
            <a:r>
              <a:rPr lang="en-US" sz="4162" b="1">
                <a:solidFill>
                  <a:srgbClr val="343432"/>
                </a:solidFill>
                <a:latin typeface="Roboto Condensed"/>
                <a:ea typeface="Roboto Condensed"/>
                <a:cs typeface="Roboto Condensed"/>
                <a:sym typeface="Roboto Condensed"/>
              </a:rPr>
              <a:t>SAM</a:t>
            </a:r>
            <a:endParaRPr/>
          </a:p>
        </p:txBody>
      </p:sp>
      <p:sp>
        <p:nvSpPr>
          <p:cNvPr id="287" name="Google Shape;287;p8"/>
          <p:cNvSpPr txBox="1"/>
          <p:nvPr/>
        </p:nvSpPr>
        <p:spPr>
          <a:xfrm>
            <a:off x="11693565" y="6382146"/>
            <a:ext cx="3160930" cy="1212003"/>
          </a:xfrm>
          <a:prstGeom prst="rect">
            <a:avLst/>
          </a:prstGeom>
          <a:noFill/>
          <a:ln>
            <a:noFill/>
          </a:ln>
        </p:spPr>
        <p:txBody>
          <a:bodyPr spcFirstLastPara="1" wrap="square" lIns="0" tIns="0" rIns="0" bIns="0" anchor="t" anchorCtr="0">
            <a:spAutoFit/>
          </a:bodyPr>
          <a:lstStyle/>
          <a:p>
            <a:pPr marL="0" marR="0" lvl="0" indent="0" algn="ctr" rtl="0">
              <a:lnSpc>
                <a:spcPct val="106020"/>
              </a:lnSpc>
              <a:spcBef>
                <a:spcPts val="0"/>
              </a:spcBef>
              <a:spcAft>
                <a:spcPts val="0"/>
              </a:spcAft>
              <a:buNone/>
            </a:pPr>
            <a:r>
              <a:rPr lang="en-US" sz="2990">
                <a:solidFill>
                  <a:srgbClr val="343432"/>
                </a:solidFill>
                <a:latin typeface="Quicksand"/>
                <a:ea typeface="Quicksand"/>
                <a:cs typeface="Quicksand"/>
                <a:sym typeface="Quicksand"/>
              </a:rPr>
              <a:t>Serviceable Obtainable Market</a:t>
            </a:r>
            <a:endParaRPr/>
          </a:p>
        </p:txBody>
      </p:sp>
      <p:sp>
        <p:nvSpPr>
          <p:cNvPr id="288" name="Google Shape;288;p8"/>
          <p:cNvSpPr txBox="1"/>
          <p:nvPr/>
        </p:nvSpPr>
        <p:spPr>
          <a:xfrm>
            <a:off x="11849932" y="5334796"/>
            <a:ext cx="2747973" cy="669084"/>
          </a:xfrm>
          <a:prstGeom prst="rect">
            <a:avLst/>
          </a:prstGeom>
          <a:noFill/>
          <a:ln>
            <a:noFill/>
          </a:ln>
        </p:spPr>
        <p:txBody>
          <a:bodyPr spcFirstLastPara="1" wrap="square" lIns="0" tIns="0" rIns="0" bIns="0" anchor="t" anchorCtr="0">
            <a:spAutoFit/>
          </a:bodyPr>
          <a:lstStyle/>
          <a:p>
            <a:pPr marL="0" marR="0" lvl="0" indent="0" algn="ctr" rtl="0">
              <a:lnSpc>
                <a:spcPct val="127991"/>
              </a:lnSpc>
              <a:spcBef>
                <a:spcPts val="0"/>
              </a:spcBef>
              <a:spcAft>
                <a:spcPts val="0"/>
              </a:spcAft>
              <a:buNone/>
            </a:pPr>
            <a:r>
              <a:rPr lang="en-US" sz="4162" b="1">
                <a:solidFill>
                  <a:srgbClr val="343432"/>
                </a:solidFill>
                <a:latin typeface="Roboto Condensed"/>
                <a:ea typeface="Roboto Condensed"/>
                <a:cs typeface="Roboto Condensed"/>
                <a:sym typeface="Roboto Condensed"/>
              </a:rPr>
              <a:t>SOM</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9"/>
          <p:cNvSpPr txBox="1"/>
          <p:nvPr/>
        </p:nvSpPr>
        <p:spPr>
          <a:xfrm>
            <a:off x="1777219" y="3063554"/>
            <a:ext cx="9823500" cy="7221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692" b="1">
                <a:solidFill>
                  <a:srgbClr val="191919"/>
                </a:solidFill>
                <a:latin typeface="Roboto Condensed"/>
                <a:ea typeface="Roboto Condensed"/>
                <a:cs typeface="Roboto Condensed"/>
                <a:sym typeface="Roboto Condensed"/>
              </a:rPr>
              <a:t>7. Unique Value Proposition (UVP) </a:t>
            </a:r>
            <a:endParaRPr/>
          </a:p>
        </p:txBody>
      </p:sp>
      <p:sp>
        <p:nvSpPr>
          <p:cNvPr id="295" name="Google Shape;295;p9"/>
          <p:cNvSpPr txBox="1"/>
          <p:nvPr/>
        </p:nvSpPr>
        <p:spPr>
          <a:xfrm>
            <a:off x="1777219" y="4005250"/>
            <a:ext cx="13837337" cy="331225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What unique solution do you offer to the identified problem? </a:t>
            </a:r>
            <a:endParaRPr/>
          </a:p>
          <a:p>
            <a:pPr marL="0" marR="0" lvl="0" indent="0" algn="l" rtl="0">
              <a:lnSpc>
                <a:spcPct val="50000"/>
              </a:lnSpc>
              <a:spcBef>
                <a:spcPts val="0"/>
              </a:spcBef>
              <a:spcAft>
                <a:spcPts val="0"/>
              </a:spcAft>
              <a:buNone/>
            </a:pPr>
            <a:endParaRPr sz="3314">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Provide a Single, clear, compelling message that states “why” you are different and worth paying attention.</a:t>
            </a:r>
            <a:endParaRPr/>
          </a:p>
          <a:p>
            <a:pPr marL="0" marR="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p:txBody>
      </p:sp>
      <p:grpSp>
        <p:nvGrpSpPr>
          <p:cNvPr id="296" name="Google Shape;296;p9"/>
          <p:cNvGrpSpPr/>
          <p:nvPr/>
        </p:nvGrpSpPr>
        <p:grpSpPr>
          <a:xfrm>
            <a:off x="-2530537" y="7456637"/>
            <a:ext cx="5578409" cy="5578409"/>
            <a:chOff x="0" y="0"/>
            <a:chExt cx="812800" cy="812800"/>
          </a:xfrm>
        </p:grpSpPr>
        <p:sp>
          <p:nvSpPr>
            <p:cNvPr id="297" name="Google Shape;297;p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9"/>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299" name="Google Shape;299;p9"/>
          <p:cNvGrpSpPr/>
          <p:nvPr/>
        </p:nvGrpSpPr>
        <p:grpSpPr>
          <a:xfrm>
            <a:off x="3150775" y="7386833"/>
            <a:ext cx="452486" cy="452486"/>
            <a:chOff x="0" y="0"/>
            <a:chExt cx="812800" cy="812800"/>
          </a:xfrm>
        </p:grpSpPr>
        <p:sp>
          <p:nvSpPr>
            <p:cNvPr id="300" name="Google Shape;300;p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9"/>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02" name="Google Shape;302;p9"/>
          <p:cNvGrpSpPr/>
          <p:nvPr/>
        </p:nvGrpSpPr>
        <p:grpSpPr>
          <a:xfrm>
            <a:off x="15017929" y="-2533783"/>
            <a:ext cx="5002094" cy="5002094"/>
            <a:chOff x="0" y="0"/>
            <a:chExt cx="812800" cy="812800"/>
          </a:xfrm>
        </p:grpSpPr>
        <p:sp>
          <p:nvSpPr>
            <p:cNvPr id="303" name="Google Shape;303;p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9"/>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05" name="Google Shape;305;p9"/>
          <p:cNvGrpSpPr/>
          <p:nvPr/>
        </p:nvGrpSpPr>
        <p:grpSpPr>
          <a:xfrm>
            <a:off x="4275935" y="8769753"/>
            <a:ext cx="1183437" cy="1183437"/>
            <a:chOff x="0" y="0"/>
            <a:chExt cx="812800" cy="812800"/>
          </a:xfrm>
        </p:grpSpPr>
        <p:sp>
          <p:nvSpPr>
            <p:cNvPr id="306" name="Google Shape;306;p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9"/>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08" name="Google Shape;308;p9"/>
          <p:cNvGrpSpPr/>
          <p:nvPr/>
        </p:nvGrpSpPr>
        <p:grpSpPr>
          <a:xfrm>
            <a:off x="16113923" y="9258300"/>
            <a:ext cx="327444" cy="327444"/>
            <a:chOff x="0" y="0"/>
            <a:chExt cx="812800" cy="812800"/>
          </a:xfrm>
        </p:grpSpPr>
        <p:sp>
          <p:nvSpPr>
            <p:cNvPr id="309" name="Google Shape;309;p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9"/>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11" name="Google Shape;311;p9"/>
          <p:cNvGrpSpPr/>
          <p:nvPr/>
        </p:nvGrpSpPr>
        <p:grpSpPr>
          <a:xfrm>
            <a:off x="15648108" y="9258300"/>
            <a:ext cx="327444" cy="327444"/>
            <a:chOff x="0" y="0"/>
            <a:chExt cx="812800" cy="812800"/>
          </a:xfrm>
        </p:grpSpPr>
        <p:sp>
          <p:nvSpPr>
            <p:cNvPr id="312" name="Google Shape;312;p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9"/>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14" name="Google Shape;314;p9"/>
          <p:cNvGrpSpPr/>
          <p:nvPr/>
        </p:nvGrpSpPr>
        <p:grpSpPr>
          <a:xfrm>
            <a:off x="15161723" y="9258300"/>
            <a:ext cx="327444" cy="327444"/>
            <a:chOff x="0" y="0"/>
            <a:chExt cx="812800" cy="812800"/>
          </a:xfrm>
        </p:grpSpPr>
        <p:sp>
          <p:nvSpPr>
            <p:cNvPr id="315" name="Google Shape;315;p9"/>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317" name="Google Shape;317;p9"/>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0"/>
          <p:cNvSpPr txBox="1"/>
          <p:nvPr/>
        </p:nvSpPr>
        <p:spPr>
          <a:xfrm>
            <a:off x="1777219" y="2587304"/>
            <a:ext cx="11271000" cy="7221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692" b="1" dirty="0">
                <a:solidFill>
                  <a:srgbClr val="191919"/>
                </a:solidFill>
                <a:latin typeface="Roboto Condensed"/>
                <a:ea typeface="Roboto Condensed"/>
                <a:cs typeface="Roboto Condensed"/>
                <a:sym typeface="Roboto Condensed"/>
              </a:rPr>
              <a:t>8. Competitor Analysis / Existing Alternatives</a:t>
            </a:r>
            <a:endParaRPr dirty="0"/>
          </a:p>
        </p:txBody>
      </p:sp>
      <p:sp>
        <p:nvSpPr>
          <p:cNvPr id="324" name="Google Shape;324;p10"/>
          <p:cNvSpPr txBox="1"/>
          <p:nvPr/>
        </p:nvSpPr>
        <p:spPr>
          <a:xfrm>
            <a:off x="1777219" y="3529000"/>
            <a:ext cx="13837200" cy="4080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Who are your 5 biggest competitors (nationally or internationally)? </a:t>
            </a:r>
            <a:endParaRPr/>
          </a:p>
          <a:p>
            <a:pPr marL="0" marR="0" lvl="0" indent="0" algn="l" rtl="0">
              <a:lnSpc>
                <a:spcPct val="50000"/>
              </a:lnSpc>
              <a:spcBef>
                <a:spcPts val="0"/>
              </a:spcBef>
              <a:spcAft>
                <a:spcPts val="0"/>
              </a:spcAft>
              <a:buNone/>
            </a:pPr>
            <a:endParaRPr sz="3314">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b="1">
                <a:solidFill>
                  <a:srgbClr val="343432"/>
                </a:solidFill>
                <a:latin typeface="Quicksand"/>
                <a:ea typeface="Quicksand"/>
                <a:cs typeface="Quicksand"/>
                <a:sym typeface="Quicksand"/>
              </a:rPr>
              <a:t>or </a:t>
            </a:r>
            <a:endParaRPr/>
          </a:p>
          <a:p>
            <a:pPr marL="0" marR="0" lvl="0" indent="0" algn="l" rtl="0">
              <a:lnSpc>
                <a:spcPct val="50000"/>
              </a:lnSpc>
              <a:spcBef>
                <a:spcPts val="0"/>
              </a:spcBef>
              <a:spcAft>
                <a:spcPts val="0"/>
              </a:spcAft>
              <a:buNone/>
            </a:pPr>
            <a:endParaRPr sz="3314" b="1">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What are the 5 alternatives available in the market that your prospect customers/clients/users are using to solve their problem(s)?</a:t>
            </a:r>
            <a:endParaRPr/>
          </a:p>
          <a:p>
            <a:pPr marL="0" marR="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p:txBody>
      </p:sp>
      <p:grpSp>
        <p:nvGrpSpPr>
          <p:cNvPr id="325" name="Google Shape;325;p10"/>
          <p:cNvGrpSpPr/>
          <p:nvPr/>
        </p:nvGrpSpPr>
        <p:grpSpPr>
          <a:xfrm>
            <a:off x="-3368737" y="7456637"/>
            <a:ext cx="5578409" cy="5578409"/>
            <a:chOff x="0" y="0"/>
            <a:chExt cx="812800" cy="812800"/>
          </a:xfrm>
        </p:grpSpPr>
        <p:sp>
          <p:nvSpPr>
            <p:cNvPr id="326" name="Google Shape;326;p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0"/>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28" name="Google Shape;328;p10"/>
          <p:cNvGrpSpPr/>
          <p:nvPr/>
        </p:nvGrpSpPr>
        <p:grpSpPr>
          <a:xfrm>
            <a:off x="2312575" y="7386833"/>
            <a:ext cx="452486" cy="452486"/>
            <a:chOff x="0" y="0"/>
            <a:chExt cx="812800" cy="812800"/>
          </a:xfrm>
        </p:grpSpPr>
        <p:sp>
          <p:nvSpPr>
            <p:cNvPr id="329" name="Google Shape;329;p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0"/>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31" name="Google Shape;331;p10"/>
          <p:cNvGrpSpPr/>
          <p:nvPr/>
        </p:nvGrpSpPr>
        <p:grpSpPr>
          <a:xfrm>
            <a:off x="15017929" y="-2533783"/>
            <a:ext cx="5002094" cy="5002094"/>
            <a:chOff x="0" y="0"/>
            <a:chExt cx="812800" cy="812800"/>
          </a:xfrm>
        </p:grpSpPr>
        <p:sp>
          <p:nvSpPr>
            <p:cNvPr id="332" name="Google Shape;332;p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0"/>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34" name="Google Shape;334;p10"/>
          <p:cNvGrpSpPr/>
          <p:nvPr/>
        </p:nvGrpSpPr>
        <p:grpSpPr>
          <a:xfrm>
            <a:off x="3437735" y="8769753"/>
            <a:ext cx="1183437" cy="1183437"/>
            <a:chOff x="0" y="0"/>
            <a:chExt cx="812800" cy="812800"/>
          </a:xfrm>
        </p:grpSpPr>
        <p:sp>
          <p:nvSpPr>
            <p:cNvPr id="335" name="Google Shape;335;p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0"/>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37" name="Google Shape;337;p10"/>
          <p:cNvGrpSpPr/>
          <p:nvPr/>
        </p:nvGrpSpPr>
        <p:grpSpPr>
          <a:xfrm>
            <a:off x="16113923" y="9258300"/>
            <a:ext cx="327444" cy="327444"/>
            <a:chOff x="0" y="0"/>
            <a:chExt cx="812800" cy="812800"/>
          </a:xfrm>
        </p:grpSpPr>
        <p:sp>
          <p:nvSpPr>
            <p:cNvPr id="338" name="Google Shape;338;p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0"/>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40" name="Google Shape;340;p10"/>
          <p:cNvGrpSpPr/>
          <p:nvPr/>
        </p:nvGrpSpPr>
        <p:grpSpPr>
          <a:xfrm>
            <a:off x="15648108" y="9258300"/>
            <a:ext cx="327444" cy="327444"/>
            <a:chOff x="0" y="0"/>
            <a:chExt cx="812800" cy="812800"/>
          </a:xfrm>
        </p:grpSpPr>
        <p:sp>
          <p:nvSpPr>
            <p:cNvPr id="341" name="Google Shape;341;p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0"/>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43" name="Google Shape;343;p10"/>
          <p:cNvGrpSpPr/>
          <p:nvPr/>
        </p:nvGrpSpPr>
        <p:grpSpPr>
          <a:xfrm>
            <a:off x="15161723" y="9258300"/>
            <a:ext cx="327444" cy="327444"/>
            <a:chOff x="0" y="0"/>
            <a:chExt cx="812800" cy="812800"/>
          </a:xfrm>
        </p:grpSpPr>
        <p:sp>
          <p:nvSpPr>
            <p:cNvPr id="344" name="Google Shape;344;p10"/>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0"/>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346" name="Google Shape;346;p10"/>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1"/>
          <p:cNvSpPr txBox="1"/>
          <p:nvPr/>
        </p:nvSpPr>
        <p:spPr>
          <a:xfrm>
            <a:off x="1777219" y="2876796"/>
            <a:ext cx="11271000" cy="7221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692" b="1">
                <a:solidFill>
                  <a:srgbClr val="191919"/>
                </a:solidFill>
                <a:latin typeface="Roboto Condensed"/>
                <a:ea typeface="Roboto Condensed"/>
                <a:cs typeface="Roboto Condensed"/>
                <a:sym typeface="Roboto Condensed"/>
              </a:rPr>
              <a:t>9. Channels </a:t>
            </a:r>
            <a:endParaRPr/>
          </a:p>
        </p:txBody>
      </p:sp>
      <p:sp>
        <p:nvSpPr>
          <p:cNvPr id="353" name="Google Shape;353;p11"/>
          <p:cNvSpPr txBox="1"/>
          <p:nvPr/>
        </p:nvSpPr>
        <p:spPr>
          <a:xfrm>
            <a:off x="1777219" y="3818492"/>
            <a:ext cx="13837200" cy="26835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How will you reach your target customer segments? </a:t>
            </a:r>
            <a:endParaRPr/>
          </a:p>
          <a:p>
            <a:pPr marL="0" marR="0" lvl="0" indent="0" algn="l" rtl="0">
              <a:lnSpc>
                <a:spcPct val="50000"/>
              </a:lnSpc>
              <a:spcBef>
                <a:spcPts val="0"/>
              </a:spcBef>
              <a:spcAft>
                <a:spcPts val="0"/>
              </a:spcAft>
              <a:buNone/>
            </a:pPr>
            <a:endParaRPr sz="3314">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Identify the marketing channels from which you can capture customers/ clients / users.</a:t>
            </a:r>
            <a:endParaRPr/>
          </a:p>
          <a:p>
            <a:pPr marL="0" marR="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p:txBody>
      </p:sp>
      <p:grpSp>
        <p:nvGrpSpPr>
          <p:cNvPr id="354" name="Google Shape;354;p11"/>
          <p:cNvGrpSpPr/>
          <p:nvPr/>
        </p:nvGrpSpPr>
        <p:grpSpPr>
          <a:xfrm>
            <a:off x="-3063937" y="7075637"/>
            <a:ext cx="5578409" cy="5578409"/>
            <a:chOff x="0" y="0"/>
            <a:chExt cx="812800" cy="812800"/>
          </a:xfrm>
        </p:grpSpPr>
        <p:sp>
          <p:nvSpPr>
            <p:cNvPr id="355" name="Google Shape;355;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57" name="Google Shape;357;p11"/>
          <p:cNvGrpSpPr/>
          <p:nvPr/>
        </p:nvGrpSpPr>
        <p:grpSpPr>
          <a:xfrm>
            <a:off x="2617375" y="7005833"/>
            <a:ext cx="452486" cy="452486"/>
            <a:chOff x="0" y="0"/>
            <a:chExt cx="812800" cy="812800"/>
          </a:xfrm>
        </p:grpSpPr>
        <p:sp>
          <p:nvSpPr>
            <p:cNvPr id="358" name="Google Shape;358;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60" name="Google Shape;360;p11"/>
          <p:cNvGrpSpPr/>
          <p:nvPr/>
        </p:nvGrpSpPr>
        <p:grpSpPr>
          <a:xfrm>
            <a:off x="15017929" y="-2533783"/>
            <a:ext cx="5002094" cy="5002094"/>
            <a:chOff x="0" y="0"/>
            <a:chExt cx="812800" cy="812800"/>
          </a:xfrm>
        </p:grpSpPr>
        <p:sp>
          <p:nvSpPr>
            <p:cNvPr id="361" name="Google Shape;361;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63" name="Google Shape;363;p11"/>
          <p:cNvGrpSpPr/>
          <p:nvPr/>
        </p:nvGrpSpPr>
        <p:grpSpPr>
          <a:xfrm>
            <a:off x="3742535" y="8388753"/>
            <a:ext cx="1183437" cy="1183437"/>
            <a:chOff x="0" y="0"/>
            <a:chExt cx="812800" cy="812800"/>
          </a:xfrm>
        </p:grpSpPr>
        <p:sp>
          <p:nvSpPr>
            <p:cNvPr id="364" name="Google Shape;36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1"/>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66" name="Google Shape;366;p11"/>
          <p:cNvGrpSpPr/>
          <p:nvPr/>
        </p:nvGrpSpPr>
        <p:grpSpPr>
          <a:xfrm>
            <a:off x="16113923" y="9258300"/>
            <a:ext cx="327444" cy="327444"/>
            <a:chOff x="0" y="0"/>
            <a:chExt cx="812800" cy="812800"/>
          </a:xfrm>
        </p:grpSpPr>
        <p:sp>
          <p:nvSpPr>
            <p:cNvPr id="367" name="Google Shape;367;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1"/>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69" name="Google Shape;369;p11"/>
          <p:cNvGrpSpPr/>
          <p:nvPr/>
        </p:nvGrpSpPr>
        <p:grpSpPr>
          <a:xfrm>
            <a:off x="15648108" y="9258300"/>
            <a:ext cx="327444" cy="327444"/>
            <a:chOff x="0" y="0"/>
            <a:chExt cx="812800" cy="812800"/>
          </a:xfrm>
        </p:grpSpPr>
        <p:sp>
          <p:nvSpPr>
            <p:cNvPr id="370" name="Google Shape;370;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1"/>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72" name="Google Shape;372;p11"/>
          <p:cNvGrpSpPr/>
          <p:nvPr/>
        </p:nvGrpSpPr>
        <p:grpSpPr>
          <a:xfrm>
            <a:off x="15161723" y="9258300"/>
            <a:ext cx="327444" cy="327444"/>
            <a:chOff x="0" y="0"/>
            <a:chExt cx="812800" cy="812800"/>
          </a:xfrm>
        </p:grpSpPr>
        <p:sp>
          <p:nvSpPr>
            <p:cNvPr id="373" name="Google Shape;373;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1"/>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375" name="Google Shape;375;p11"/>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12"/>
          <p:cNvSpPr txBox="1"/>
          <p:nvPr/>
        </p:nvSpPr>
        <p:spPr>
          <a:xfrm>
            <a:off x="1777219" y="1037346"/>
            <a:ext cx="11271000" cy="7221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692" b="1">
                <a:solidFill>
                  <a:srgbClr val="191919"/>
                </a:solidFill>
                <a:latin typeface="Roboto Condensed"/>
                <a:ea typeface="Roboto Condensed"/>
                <a:cs typeface="Roboto Condensed"/>
                <a:sym typeface="Roboto Condensed"/>
              </a:rPr>
              <a:t>10. Revenue Streams </a:t>
            </a:r>
            <a:endParaRPr/>
          </a:p>
        </p:txBody>
      </p:sp>
      <p:sp>
        <p:nvSpPr>
          <p:cNvPr id="382" name="Google Shape;382;p12"/>
          <p:cNvSpPr txBox="1"/>
          <p:nvPr/>
        </p:nvSpPr>
        <p:spPr>
          <a:xfrm>
            <a:off x="1777219" y="2375151"/>
            <a:ext cx="13837200" cy="2805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How will you generate revenue from your solution? </a:t>
            </a:r>
            <a:endParaRPr/>
          </a:p>
          <a:p>
            <a:pPr marL="0" marR="0" lvl="0" indent="0" algn="l" rtl="0">
              <a:lnSpc>
                <a:spcPct val="50000"/>
              </a:lnSpc>
              <a:spcBef>
                <a:spcPts val="0"/>
              </a:spcBef>
              <a:spcAft>
                <a:spcPts val="0"/>
              </a:spcAft>
              <a:buNone/>
            </a:pPr>
            <a:endParaRPr sz="3314">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Revenue Model/List your sources of revenue: </a:t>
            </a:r>
            <a:endParaRPr sz="3314">
              <a:solidFill>
                <a:srgbClr val="343432"/>
              </a:solidFill>
              <a:latin typeface="Quicksand"/>
              <a:ea typeface="Quicksand"/>
              <a:cs typeface="Quicksand"/>
              <a:sym typeface="Quicksand"/>
            </a:endParaRPr>
          </a:p>
          <a:p>
            <a:pPr marL="0" lvl="0" indent="0" algn="l" rtl="0">
              <a:spcBef>
                <a:spcPts val="0"/>
              </a:spcBef>
              <a:spcAft>
                <a:spcPts val="0"/>
              </a:spcAft>
              <a:buNone/>
            </a:pPr>
            <a:r>
              <a:rPr lang="en-US" sz="3314">
                <a:solidFill>
                  <a:srgbClr val="343432"/>
                </a:solidFill>
                <a:latin typeface="Quicksand"/>
                <a:ea typeface="Quicksand"/>
                <a:cs typeface="Quicksand"/>
                <a:sym typeface="Quicksand"/>
              </a:rPr>
              <a:t>For example: </a:t>
            </a:r>
            <a:endParaRPr sz="3314">
              <a:solidFill>
                <a:srgbClr val="343432"/>
              </a:solidFill>
              <a:latin typeface="Quicksand"/>
              <a:ea typeface="Quicksand"/>
              <a:cs typeface="Quicksand"/>
              <a:sym typeface="Quicksand"/>
            </a:endParaRPr>
          </a:p>
          <a:p>
            <a:pPr marL="0" lvl="0" indent="0" algn="l" rtl="0">
              <a:spcBef>
                <a:spcPts val="0"/>
              </a:spcBef>
              <a:spcAft>
                <a:spcPts val="0"/>
              </a:spcAft>
              <a:buNone/>
            </a:pPr>
            <a:r>
              <a:rPr lang="en-US" sz="3314">
                <a:solidFill>
                  <a:srgbClr val="343432"/>
                </a:solidFill>
                <a:latin typeface="Quicksand"/>
                <a:ea typeface="Quicksand"/>
                <a:cs typeface="Quicksand"/>
                <a:sym typeface="Quicksand"/>
              </a:rPr>
              <a:t>Subscription based, transaction based, project based, services based.</a:t>
            </a:r>
            <a:endParaRPr sz="3314">
              <a:solidFill>
                <a:srgbClr val="343432"/>
              </a:solidFill>
              <a:latin typeface="Quicksand"/>
              <a:ea typeface="Quicksand"/>
              <a:cs typeface="Quicksand"/>
              <a:sym typeface="Quicksand"/>
            </a:endParaRPr>
          </a:p>
        </p:txBody>
      </p:sp>
      <p:grpSp>
        <p:nvGrpSpPr>
          <p:cNvPr id="383" name="Google Shape;383;p12"/>
          <p:cNvGrpSpPr/>
          <p:nvPr/>
        </p:nvGrpSpPr>
        <p:grpSpPr>
          <a:xfrm>
            <a:off x="-4130737" y="8066237"/>
            <a:ext cx="5578409" cy="5578409"/>
            <a:chOff x="0" y="0"/>
            <a:chExt cx="812800" cy="812800"/>
          </a:xfrm>
        </p:grpSpPr>
        <p:sp>
          <p:nvSpPr>
            <p:cNvPr id="384" name="Google Shape;384;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86" name="Google Shape;386;p12"/>
          <p:cNvGrpSpPr/>
          <p:nvPr/>
        </p:nvGrpSpPr>
        <p:grpSpPr>
          <a:xfrm>
            <a:off x="1550575" y="7996433"/>
            <a:ext cx="452486" cy="452486"/>
            <a:chOff x="0" y="0"/>
            <a:chExt cx="812800" cy="812800"/>
          </a:xfrm>
        </p:grpSpPr>
        <p:sp>
          <p:nvSpPr>
            <p:cNvPr id="387" name="Google Shape;387;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89" name="Google Shape;389;p12"/>
          <p:cNvGrpSpPr/>
          <p:nvPr/>
        </p:nvGrpSpPr>
        <p:grpSpPr>
          <a:xfrm>
            <a:off x="15017929" y="-2533783"/>
            <a:ext cx="5002094" cy="5002094"/>
            <a:chOff x="0" y="0"/>
            <a:chExt cx="812800" cy="812800"/>
          </a:xfrm>
        </p:grpSpPr>
        <p:sp>
          <p:nvSpPr>
            <p:cNvPr id="390" name="Google Shape;390;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92" name="Google Shape;392;p12"/>
          <p:cNvGrpSpPr/>
          <p:nvPr/>
        </p:nvGrpSpPr>
        <p:grpSpPr>
          <a:xfrm>
            <a:off x="2675735" y="9379353"/>
            <a:ext cx="1183437" cy="1183437"/>
            <a:chOff x="0" y="0"/>
            <a:chExt cx="812800" cy="812800"/>
          </a:xfrm>
        </p:grpSpPr>
        <p:sp>
          <p:nvSpPr>
            <p:cNvPr id="393" name="Google Shape;393;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2"/>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95" name="Google Shape;395;p12"/>
          <p:cNvGrpSpPr/>
          <p:nvPr/>
        </p:nvGrpSpPr>
        <p:grpSpPr>
          <a:xfrm>
            <a:off x="16113923" y="9258300"/>
            <a:ext cx="327444" cy="327444"/>
            <a:chOff x="0" y="0"/>
            <a:chExt cx="812800" cy="812800"/>
          </a:xfrm>
        </p:grpSpPr>
        <p:sp>
          <p:nvSpPr>
            <p:cNvPr id="396" name="Google Shape;396;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2"/>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398" name="Google Shape;398;p12"/>
          <p:cNvGrpSpPr/>
          <p:nvPr/>
        </p:nvGrpSpPr>
        <p:grpSpPr>
          <a:xfrm>
            <a:off x="15648108" y="9258300"/>
            <a:ext cx="327444" cy="327444"/>
            <a:chOff x="0" y="0"/>
            <a:chExt cx="812800" cy="812800"/>
          </a:xfrm>
        </p:grpSpPr>
        <p:sp>
          <p:nvSpPr>
            <p:cNvPr id="399" name="Google Shape;399;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2"/>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01" name="Google Shape;401;p12"/>
          <p:cNvGrpSpPr/>
          <p:nvPr/>
        </p:nvGrpSpPr>
        <p:grpSpPr>
          <a:xfrm>
            <a:off x="15161723" y="9258300"/>
            <a:ext cx="327444" cy="327444"/>
            <a:chOff x="0" y="0"/>
            <a:chExt cx="812800" cy="812800"/>
          </a:xfrm>
        </p:grpSpPr>
        <p:sp>
          <p:nvSpPr>
            <p:cNvPr id="402" name="Google Shape;402;p1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2"/>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404" name="Google Shape;404;p12"/>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13"/>
          <p:cNvSpPr txBox="1"/>
          <p:nvPr/>
        </p:nvSpPr>
        <p:spPr>
          <a:xfrm>
            <a:off x="1777219" y="1067046"/>
            <a:ext cx="11271000" cy="7221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692" b="1">
                <a:solidFill>
                  <a:srgbClr val="191919"/>
                </a:solidFill>
                <a:latin typeface="Roboto Condensed"/>
                <a:ea typeface="Roboto Condensed"/>
                <a:cs typeface="Roboto Condensed"/>
                <a:sym typeface="Roboto Condensed"/>
              </a:rPr>
              <a:t>10. Cost Structure</a:t>
            </a:r>
            <a:endParaRPr/>
          </a:p>
        </p:txBody>
      </p:sp>
      <p:sp>
        <p:nvSpPr>
          <p:cNvPr id="411" name="Google Shape;411;p13"/>
          <p:cNvSpPr txBox="1"/>
          <p:nvPr/>
        </p:nvSpPr>
        <p:spPr>
          <a:xfrm>
            <a:off x="1777219" y="2313542"/>
            <a:ext cx="13837200" cy="4590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What are your most important costs associated with developing and delivering your solution?</a:t>
            </a:r>
            <a:endParaRPr/>
          </a:p>
          <a:p>
            <a:pPr marL="0" marR="0" lvl="0" indent="0" algn="l" rtl="0">
              <a:lnSpc>
                <a:spcPct val="50000"/>
              </a:lnSpc>
              <a:spcBef>
                <a:spcPts val="0"/>
              </a:spcBef>
              <a:spcAft>
                <a:spcPts val="0"/>
              </a:spcAft>
              <a:buNone/>
            </a:pPr>
            <a:endParaRPr sz="3314">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Capital Expenditure - CAPEX:</a:t>
            </a:r>
            <a:endParaRPr/>
          </a:p>
          <a:p>
            <a:pPr marL="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a:p>
            <a:pPr marL="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Operational Expenditure - OPEX:</a:t>
            </a:r>
            <a:endParaRPr sz="3314">
              <a:solidFill>
                <a:srgbClr val="343432"/>
              </a:solidFill>
              <a:latin typeface="Quicksand"/>
              <a:ea typeface="Quicksand"/>
              <a:cs typeface="Quicksand"/>
              <a:sym typeface="Quicksand"/>
            </a:endParaRPr>
          </a:p>
        </p:txBody>
      </p:sp>
      <p:grpSp>
        <p:nvGrpSpPr>
          <p:cNvPr id="412" name="Google Shape;412;p13"/>
          <p:cNvGrpSpPr/>
          <p:nvPr/>
        </p:nvGrpSpPr>
        <p:grpSpPr>
          <a:xfrm>
            <a:off x="-3063937" y="8142437"/>
            <a:ext cx="5578409" cy="5578409"/>
            <a:chOff x="0" y="0"/>
            <a:chExt cx="812800" cy="812800"/>
          </a:xfrm>
        </p:grpSpPr>
        <p:sp>
          <p:nvSpPr>
            <p:cNvPr id="413" name="Google Shape;413;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3"/>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15" name="Google Shape;415;p13"/>
          <p:cNvGrpSpPr/>
          <p:nvPr/>
        </p:nvGrpSpPr>
        <p:grpSpPr>
          <a:xfrm>
            <a:off x="2617375" y="8072633"/>
            <a:ext cx="452486" cy="452486"/>
            <a:chOff x="0" y="0"/>
            <a:chExt cx="812800" cy="812800"/>
          </a:xfrm>
        </p:grpSpPr>
        <p:sp>
          <p:nvSpPr>
            <p:cNvPr id="416" name="Google Shape;416;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3"/>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18" name="Google Shape;418;p13"/>
          <p:cNvGrpSpPr/>
          <p:nvPr/>
        </p:nvGrpSpPr>
        <p:grpSpPr>
          <a:xfrm>
            <a:off x="15017929" y="-2533783"/>
            <a:ext cx="5002094" cy="5002094"/>
            <a:chOff x="0" y="0"/>
            <a:chExt cx="812800" cy="812800"/>
          </a:xfrm>
        </p:grpSpPr>
        <p:sp>
          <p:nvSpPr>
            <p:cNvPr id="419" name="Google Shape;419;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3"/>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21" name="Google Shape;421;p13"/>
          <p:cNvGrpSpPr/>
          <p:nvPr/>
        </p:nvGrpSpPr>
        <p:grpSpPr>
          <a:xfrm>
            <a:off x="3742535" y="9455553"/>
            <a:ext cx="1183437" cy="1183437"/>
            <a:chOff x="0" y="0"/>
            <a:chExt cx="812800" cy="812800"/>
          </a:xfrm>
        </p:grpSpPr>
        <p:sp>
          <p:nvSpPr>
            <p:cNvPr id="422" name="Google Shape;422;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3"/>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24" name="Google Shape;424;p13"/>
          <p:cNvGrpSpPr/>
          <p:nvPr/>
        </p:nvGrpSpPr>
        <p:grpSpPr>
          <a:xfrm>
            <a:off x="16113923" y="9258300"/>
            <a:ext cx="327444" cy="327444"/>
            <a:chOff x="0" y="0"/>
            <a:chExt cx="812800" cy="812800"/>
          </a:xfrm>
        </p:grpSpPr>
        <p:sp>
          <p:nvSpPr>
            <p:cNvPr id="425" name="Google Shape;425;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3"/>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27" name="Google Shape;427;p13"/>
          <p:cNvGrpSpPr/>
          <p:nvPr/>
        </p:nvGrpSpPr>
        <p:grpSpPr>
          <a:xfrm>
            <a:off x="15648108" y="9258300"/>
            <a:ext cx="327444" cy="327444"/>
            <a:chOff x="0" y="0"/>
            <a:chExt cx="812800" cy="812800"/>
          </a:xfrm>
        </p:grpSpPr>
        <p:sp>
          <p:nvSpPr>
            <p:cNvPr id="428" name="Google Shape;428;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13"/>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30" name="Google Shape;430;p13"/>
          <p:cNvGrpSpPr/>
          <p:nvPr/>
        </p:nvGrpSpPr>
        <p:grpSpPr>
          <a:xfrm>
            <a:off x="15161723" y="9258300"/>
            <a:ext cx="327444" cy="327444"/>
            <a:chOff x="0" y="0"/>
            <a:chExt cx="812800" cy="812800"/>
          </a:xfrm>
        </p:grpSpPr>
        <p:sp>
          <p:nvSpPr>
            <p:cNvPr id="431" name="Google Shape;431;p1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13"/>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433" name="Google Shape;433;p13"/>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4"/>
          <p:cNvSpPr txBox="1"/>
          <p:nvPr/>
        </p:nvSpPr>
        <p:spPr>
          <a:xfrm>
            <a:off x="1777225" y="1169900"/>
            <a:ext cx="13967400" cy="1641000"/>
          </a:xfrm>
          <a:prstGeom prst="rect">
            <a:avLst/>
          </a:prstGeom>
          <a:noFill/>
          <a:ln>
            <a:noFill/>
          </a:ln>
        </p:spPr>
        <p:txBody>
          <a:bodyPr spcFirstLastPara="1" wrap="square" lIns="0" tIns="0" rIns="0" bIns="0" anchor="t" anchorCtr="0">
            <a:spAutoFit/>
          </a:bodyPr>
          <a:lstStyle/>
          <a:p>
            <a:pPr marL="0" lvl="0" indent="0" algn="l" rtl="0">
              <a:lnSpc>
                <a:spcPct val="140004"/>
              </a:lnSpc>
              <a:spcBef>
                <a:spcPts val="0"/>
              </a:spcBef>
              <a:spcAft>
                <a:spcPts val="0"/>
              </a:spcAft>
              <a:buClr>
                <a:schemeClr val="dk1"/>
              </a:buClr>
              <a:buFont typeface="Arial"/>
              <a:buNone/>
            </a:pPr>
            <a:r>
              <a:rPr lang="en-US" sz="4692" b="1">
                <a:solidFill>
                  <a:srgbClr val="191919"/>
                </a:solidFill>
                <a:latin typeface="Roboto Condensed"/>
                <a:ea typeface="Roboto Condensed"/>
                <a:cs typeface="Roboto Condensed"/>
                <a:sym typeface="Roboto Condensed"/>
              </a:rPr>
              <a:t>10. Financials: </a:t>
            </a:r>
            <a:endParaRPr sz="4091" b="1">
              <a:solidFill>
                <a:srgbClr val="191919"/>
              </a:solidFill>
              <a:latin typeface="Roboto Condensed"/>
              <a:ea typeface="Roboto Condensed"/>
              <a:cs typeface="Roboto Condensed"/>
              <a:sym typeface="Roboto Condensed"/>
            </a:endParaRPr>
          </a:p>
          <a:p>
            <a:pPr marL="0" marR="0" lvl="0" indent="0" algn="l" rtl="0">
              <a:lnSpc>
                <a:spcPct val="140004"/>
              </a:lnSpc>
              <a:spcBef>
                <a:spcPts val="0"/>
              </a:spcBef>
              <a:spcAft>
                <a:spcPts val="0"/>
              </a:spcAft>
              <a:buNone/>
            </a:pPr>
            <a:r>
              <a:rPr lang="en-US" sz="4091" b="1">
                <a:solidFill>
                  <a:srgbClr val="191919"/>
                </a:solidFill>
                <a:latin typeface="Roboto Condensed"/>
                <a:ea typeface="Roboto Condensed"/>
                <a:cs typeface="Roboto Condensed"/>
                <a:sym typeface="Roboto Condensed"/>
              </a:rPr>
              <a:t>A. Balance Sheet/Income Statement/ P&amp;L Statement/ Cash Flow</a:t>
            </a:r>
            <a:endParaRPr sz="4091" b="1">
              <a:solidFill>
                <a:srgbClr val="191919"/>
              </a:solidFill>
              <a:latin typeface="Roboto Condensed"/>
              <a:ea typeface="Roboto Condensed"/>
              <a:cs typeface="Roboto Condensed"/>
              <a:sym typeface="Roboto Condensed"/>
            </a:endParaRPr>
          </a:p>
        </p:txBody>
      </p:sp>
      <p:sp>
        <p:nvSpPr>
          <p:cNvPr id="440" name="Google Shape;440;p14"/>
          <p:cNvSpPr txBox="1"/>
          <p:nvPr/>
        </p:nvSpPr>
        <p:spPr>
          <a:xfrm>
            <a:off x="3361019" y="3333892"/>
            <a:ext cx="13837200" cy="3057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9">
                <a:solidFill>
                  <a:schemeClr val="dk1"/>
                </a:solidFill>
                <a:latin typeface="Quicksand"/>
                <a:ea typeface="Quicksand"/>
                <a:cs typeface="Quicksand"/>
                <a:sym typeface="Quicksand"/>
              </a:rPr>
              <a:t>Please provide current or forecasted financials:</a:t>
            </a:r>
            <a:endParaRPr sz="3309">
              <a:solidFill>
                <a:schemeClr val="dk1"/>
              </a:solidFill>
              <a:latin typeface="Quicksand"/>
              <a:ea typeface="Quicksand"/>
              <a:cs typeface="Quicksand"/>
              <a:sym typeface="Quicksand"/>
            </a:endParaRPr>
          </a:p>
          <a:p>
            <a:pPr marL="0" marR="0" lvl="0" indent="0" algn="l" rtl="0">
              <a:spcBef>
                <a:spcPts val="0"/>
              </a:spcBef>
              <a:spcAft>
                <a:spcPts val="0"/>
              </a:spcAft>
              <a:buNone/>
            </a:pPr>
            <a:endParaRPr sz="3309">
              <a:solidFill>
                <a:schemeClr val="dk1"/>
              </a:solidFill>
              <a:latin typeface="Quicksand"/>
              <a:ea typeface="Quicksand"/>
              <a:cs typeface="Quicksand"/>
              <a:sym typeface="Quicksand"/>
            </a:endParaRPr>
          </a:p>
          <a:p>
            <a:pPr marL="0" marR="0" lvl="0" indent="0" algn="l" rtl="0">
              <a:spcBef>
                <a:spcPts val="0"/>
              </a:spcBef>
              <a:spcAft>
                <a:spcPts val="0"/>
              </a:spcAft>
              <a:buNone/>
            </a:pPr>
            <a:r>
              <a:rPr lang="en-US" sz="3309" b="1">
                <a:solidFill>
                  <a:schemeClr val="dk1"/>
                </a:solidFill>
                <a:latin typeface="Quicksand"/>
                <a:ea typeface="Quicksand"/>
                <a:cs typeface="Quicksand"/>
                <a:sym typeface="Quicksand"/>
              </a:rPr>
              <a:t>Balance Sheet / </a:t>
            </a:r>
            <a:br>
              <a:rPr lang="en-US" sz="3309" b="1">
                <a:solidFill>
                  <a:schemeClr val="dk1"/>
                </a:solidFill>
                <a:latin typeface="Quicksand"/>
                <a:ea typeface="Quicksand"/>
                <a:cs typeface="Quicksand"/>
                <a:sym typeface="Quicksand"/>
              </a:rPr>
            </a:br>
            <a:r>
              <a:rPr lang="en-US" sz="3309" b="1">
                <a:solidFill>
                  <a:schemeClr val="dk1"/>
                </a:solidFill>
                <a:latin typeface="Quicksand"/>
                <a:ea typeface="Quicksand"/>
                <a:cs typeface="Quicksand"/>
                <a:sym typeface="Quicksand"/>
              </a:rPr>
              <a:t>P&amp;L Statement/ </a:t>
            </a:r>
            <a:br>
              <a:rPr lang="en-US" sz="3309" b="1">
                <a:solidFill>
                  <a:schemeClr val="dk1"/>
                </a:solidFill>
                <a:latin typeface="Quicksand"/>
                <a:ea typeface="Quicksand"/>
                <a:cs typeface="Quicksand"/>
                <a:sym typeface="Quicksand"/>
              </a:rPr>
            </a:br>
            <a:r>
              <a:rPr lang="en-US" sz="3309" b="1">
                <a:solidFill>
                  <a:schemeClr val="dk1"/>
                </a:solidFill>
                <a:latin typeface="Quicksand"/>
                <a:ea typeface="Quicksand"/>
                <a:cs typeface="Quicksand"/>
                <a:sym typeface="Quicksand"/>
              </a:rPr>
              <a:t>Cash flow statement</a:t>
            </a:r>
            <a:endParaRPr sz="3309">
              <a:solidFill>
                <a:schemeClr val="dk1"/>
              </a:solidFill>
              <a:latin typeface="Quicksand"/>
              <a:ea typeface="Quicksand"/>
              <a:cs typeface="Quicksand"/>
              <a:sym typeface="Quicksand"/>
            </a:endParaRPr>
          </a:p>
          <a:p>
            <a:pPr marL="0" marR="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p:txBody>
      </p:sp>
      <p:grpSp>
        <p:nvGrpSpPr>
          <p:cNvPr id="441" name="Google Shape;441;p14"/>
          <p:cNvGrpSpPr/>
          <p:nvPr/>
        </p:nvGrpSpPr>
        <p:grpSpPr>
          <a:xfrm>
            <a:off x="-4511737" y="7151837"/>
            <a:ext cx="5578409" cy="5578409"/>
            <a:chOff x="0" y="0"/>
            <a:chExt cx="812800" cy="812800"/>
          </a:xfrm>
        </p:grpSpPr>
        <p:sp>
          <p:nvSpPr>
            <p:cNvPr id="442" name="Google Shape;442;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1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44" name="Google Shape;444;p14"/>
          <p:cNvGrpSpPr/>
          <p:nvPr/>
        </p:nvGrpSpPr>
        <p:grpSpPr>
          <a:xfrm>
            <a:off x="1169575" y="7082033"/>
            <a:ext cx="452486" cy="452486"/>
            <a:chOff x="0" y="0"/>
            <a:chExt cx="812800" cy="812800"/>
          </a:xfrm>
        </p:grpSpPr>
        <p:sp>
          <p:nvSpPr>
            <p:cNvPr id="445" name="Google Shape;445;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1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47" name="Google Shape;447;p14"/>
          <p:cNvGrpSpPr/>
          <p:nvPr/>
        </p:nvGrpSpPr>
        <p:grpSpPr>
          <a:xfrm>
            <a:off x="15017929" y="-2533783"/>
            <a:ext cx="5002094" cy="5002094"/>
            <a:chOff x="0" y="0"/>
            <a:chExt cx="812800" cy="812800"/>
          </a:xfrm>
        </p:grpSpPr>
        <p:sp>
          <p:nvSpPr>
            <p:cNvPr id="448" name="Google Shape;448;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50" name="Google Shape;450;p14"/>
          <p:cNvGrpSpPr/>
          <p:nvPr/>
        </p:nvGrpSpPr>
        <p:grpSpPr>
          <a:xfrm>
            <a:off x="2294735" y="8464953"/>
            <a:ext cx="1183437" cy="1183437"/>
            <a:chOff x="0" y="0"/>
            <a:chExt cx="812800" cy="812800"/>
          </a:xfrm>
        </p:grpSpPr>
        <p:sp>
          <p:nvSpPr>
            <p:cNvPr id="451" name="Google Shape;451;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4"/>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53" name="Google Shape;453;p14"/>
          <p:cNvGrpSpPr/>
          <p:nvPr/>
        </p:nvGrpSpPr>
        <p:grpSpPr>
          <a:xfrm>
            <a:off x="16113923" y="9258300"/>
            <a:ext cx="327444" cy="327444"/>
            <a:chOff x="0" y="0"/>
            <a:chExt cx="812800" cy="812800"/>
          </a:xfrm>
        </p:grpSpPr>
        <p:sp>
          <p:nvSpPr>
            <p:cNvPr id="454" name="Google Shape;454;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14"/>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56" name="Google Shape;456;p14"/>
          <p:cNvGrpSpPr/>
          <p:nvPr/>
        </p:nvGrpSpPr>
        <p:grpSpPr>
          <a:xfrm>
            <a:off x="15648108" y="9258300"/>
            <a:ext cx="327444" cy="327444"/>
            <a:chOff x="0" y="0"/>
            <a:chExt cx="812800" cy="812800"/>
          </a:xfrm>
        </p:grpSpPr>
        <p:sp>
          <p:nvSpPr>
            <p:cNvPr id="457" name="Google Shape;457;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4"/>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59" name="Google Shape;459;p14"/>
          <p:cNvGrpSpPr/>
          <p:nvPr/>
        </p:nvGrpSpPr>
        <p:grpSpPr>
          <a:xfrm>
            <a:off x="15161723" y="9258300"/>
            <a:ext cx="327444" cy="327444"/>
            <a:chOff x="0" y="0"/>
            <a:chExt cx="812800" cy="812800"/>
          </a:xfrm>
        </p:grpSpPr>
        <p:sp>
          <p:nvSpPr>
            <p:cNvPr id="460" name="Google Shape;460;p1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4"/>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462" name="Google Shape;462;p14"/>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16"/>
          <p:cNvSpPr txBox="1"/>
          <p:nvPr/>
        </p:nvSpPr>
        <p:spPr>
          <a:xfrm>
            <a:off x="1777219" y="1181346"/>
            <a:ext cx="11271000" cy="722100"/>
          </a:xfrm>
          <a:prstGeom prst="rect">
            <a:avLst/>
          </a:prstGeom>
          <a:noFill/>
          <a:ln>
            <a:noFill/>
          </a:ln>
        </p:spPr>
        <p:txBody>
          <a:bodyPr spcFirstLastPara="1" wrap="square" lIns="0" tIns="0" rIns="0" bIns="0" anchor="t" anchorCtr="0">
            <a:spAutoFit/>
          </a:bodyPr>
          <a:lstStyle/>
          <a:p>
            <a:pPr marL="0" lvl="0" indent="0" algn="l" rtl="0">
              <a:lnSpc>
                <a:spcPct val="140004"/>
              </a:lnSpc>
              <a:spcBef>
                <a:spcPts val="0"/>
              </a:spcBef>
              <a:spcAft>
                <a:spcPts val="0"/>
              </a:spcAft>
              <a:buNone/>
            </a:pPr>
            <a:r>
              <a:rPr lang="en-US" sz="4692" b="1">
                <a:solidFill>
                  <a:srgbClr val="191919"/>
                </a:solidFill>
                <a:latin typeface="Roboto Condensed"/>
                <a:ea typeface="Roboto Condensed"/>
                <a:cs typeface="Roboto Condensed"/>
                <a:sym typeface="Roboto Condensed"/>
              </a:rPr>
              <a:t>11. Exit</a:t>
            </a:r>
            <a:endParaRPr/>
          </a:p>
        </p:txBody>
      </p:sp>
      <p:sp>
        <p:nvSpPr>
          <p:cNvPr id="469" name="Google Shape;469;p16"/>
          <p:cNvSpPr txBox="1"/>
          <p:nvPr/>
        </p:nvSpPr>
        <p:spPr>
          <a:xfrm>
            <a:off x="1777219" y="3028217"/>
            <a:ext cx="13384500" cy="3060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What’s your ask and against what equity? (How much funding are you looking for to scale your startup?)</a:t>
            </a:r>
            <a:endParaRPr/>
          </a:p>
          <a:p>
            <a:pPr marL="0" marR="0" lvl="0" indent="0" algn="l" rtl="0">
              <a:lnSpc>
                <a:spcPct val="50000"/>
              </a:lnSpc>
              <a:spcBef>
                <a:spcPts val="0"/>
              </a:spcBef>
              <a:spcAft>
                <a:spcPts val="0"/>
              </a:spcAft>
              <a:buNone/>
            </a:pPr>
            <a:endParaRPr sz="3314">
              <a:solidFill>
                <a:srgbClr val="343432"/>
              </a:solidFill>
              <a:latin typeface="Quicksand"/>
              <a:ea typeface="Quicksand"/>
              <a:cs typeface="Quicksand"/>
              <a:sym typeface="Quicksand"/>
            </a:endParaRPr>
          </a:p>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What are your plans for IPO and/or exit?</a:t>
            </a:r>
            <a:endParaRPr/>
          </a:p>
          <a:p>
            <a:pPr marL="0" marR="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p:txBody>
      </p:sp>
      <p:grpSp>
        <p:nvGrpSpPr>
          <p:cNvPr id="470" name="Google Shape;470;p16"/>
          <p:cNvGrpSpPr/>
          <p:nvPr/>
        </p:nvGrpSpPr>
        <p:grpSpPr>
          <a:xfrm>
            <a:off x="-1997137" y="7075637"/>
            <a:ext cx="5578401" cy="5578401"/>
            <a:chOff x="0" y="0"/>
            <a:chExt cx="812800" cy="812800"/>
          </a:xfrm>
        </p:grpSpPr>
        <p:sp>
          <p:nvSpPr>
            <p:cNvPr id="471" name="Google Shape;471;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1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73" name="Google Shape;473;p16"/>
          <p:cNvGrpSpPr/>
          <p:nvPr/>
        </p:nvGrpSpPr>
        <p:grpSpPr>
          <a:xfrm>
            <a:off x="3684175" y="7005833"/>
            <a:ext cx="452472" cy="452472"/>
            <a:chOff x="0" y="0"/>
            <a:chExt cx="812800" cy="812800"/>
          </a:xfrm>
        </p:grpSpPr>
        <p:sp>
          <p:nvSpPr>
            <p:cNvPr id="474" name="Google Shape;474;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76" name="Google Shape;476;p16"/>
          <p:cNvGrpSpPr/>
          <p:nvPr/>
        </p:nvGrpSpPr>
        <p:grpSpPr>
          <a:xfrm>
            <a:off x="15017929" y="-2533783"/>
            <a:ext cx="5002094" cy="5002094"/>
            <a:chOff x="0" y="0"/>
            <a:chExt cx="812800" cy="812800"/>
          </a:xfrm>
        </p:grpSpPr>
        <p:sp>
          <p:nvSpPr>
            <p:cNvPr id="477" name="Google Shape;477;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79" name="Google Shape;479;p16"/>
          <p:cNvGrpSpPr/>
          <p:nvPr/>
        </p:nvGrpSpPr>
        <p:grpSpPr>
          <a:xfrm>
            <a:off x="4809335" y="8388753"/>
            <a:ext cx="1183417" cy="1183417"/>
            <a:chOff x="0" y="0"/>
            <a:chExt cx="812800" cy="812800"/>
          </a:xfrm>
        </p:grpSpPr>
        <p:sp>
          <p:nvSpPr>
            <p:cNvPr id="480" name="Google Shape;480;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16"/>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82" name="Google Shape;482;p16"/>
          <p:cNvGrpSpPr/>
          <p:nvPr/>
        </p:nvGrpSpPr>
        <p:grpSpPr>
          <a:xfrm>
            <a:off x="16113923" y="9258300"/>
            <a:ext cx="327444" cy="327444"/>
            <a:chOff x="0" y="0"/>
            <a:chExt cx="812800" cy="812800"/>
          </a:xfrm>
        </p:grpSpPr>
        <p:sp>
          <p:nvSpPr>
            <p:cNvPr id="483" name="Google Shape;483;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16"/>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85" name="Google Shape;485;p16"/>
          <p:cNvGrpSpPr/>
          <p:nvPr/>
        </p:nvGrpSpPr>
        <p:grpSpPr>
          <a:xfrm>
            <a:off x="15648108" y="9258300"/>
            <a:ext cx="327444" cy="327444"/>
            <a:chOff x="0" y="0"/>
            <a:chExt cx="812800" cy="812800"/>
          </a:xfrm>
        </p:grpSpPr>
        <p:sp>
          <p:nvSpPr>
            <p:cNvPr id="486" name="Google Shape;486;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6"/>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88" name="Google Shape;488;p16"/>
          <p:cNvGrpSpPr/>
          <p:nvPr/>
        </p:nvGrpSpPr>
        <p:grpSpPr>
          <a:xfrm>
            <a:off x="15161723" y="9258300"/>
            <a:ext cx="327444" cy="327444"/>
            <a:chOff x="0" y="0"/>
            <a:chExt cx="812800" cy="812800"/>
          </a:xfrm>
        </p:grpSpPr>
        <p:sp>
          <p:nvSpPr>
            <p:cNvPr id="489" name="Google Shape;489;p1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16"/>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491" name="Google Shape;491;p16"/>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5"/>
          <p:cNvSpPr txBox="1"/>
          <p:nvPr/>
        </p:nvSpPr>
        <p:spPr>
          <a:xfrm>
            <a:off x="1658825" y="659385"/>
            <a:ext cx="11271000" cy="7221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692" b="1">
                <a:solidFill>
                  <a:srgbClr val="191919"/>
                </a:solidFill>
                <a:latin typeface="Roboto Condensed"/>
                <a:ea typeface="Roboto Condensed"/>
                <a:cs typeface="Roboto Condensed"/>
                <a:sym typeface="Roboto Condensed"/>
              </a:rPr>
              <a:t>12. Key Metrics </a:t>
            </a:r>
            <a:endParaRPr/>
          </a:p>
        </p:txBody>
      </p:sp>
      <p:sp>
        <p:nvSpPr>
          <p:cNvPr id="498" name="Google Shape;498;p15"/>
          <p:cNvSpPr txBox="1"/>
          <p:nvPr/>
        </p:nvSpPr>
        <p:spPr>
          <a:xfrm>
            <a:off x="1658825" y="1601081"/>
            <a:ext cx="13384503" cy="184540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314">
                <a:solidFill>
                  <a:srgbClr val="343432"/>
                </a:solidFill>
                <a:latin typeface="Quicksand"/>
                <a:ea typeface="Quicksand"/>
                <a:cs typeface="Quicksand"/>
                <a:sym typeface="Quicksand"/>
              </a:rPr>
              <a:t>How will you measure the success and scalability of your product and business model? </a:t>
            </a:r>
            <a:endParaRPr/>
          </a:p>
          <a:p>
            <a:pPr marL="0" marR="0" lvl="0" indent="0" algn="l" rtl="0">
              <a:lnSpc>
                <a:spcPct val="150000"/>
              </a:lnSpc>
              <a:spcBef>
                <a:spcPts val="0"/>
              </a:spcBef>
              <a:spcAft>
                <a:spcPts val="0"/>
              </a:spcAft>
              <a:buNone/>
            </a:pPr>
            <a:endParaRPr sz="3314">
              <a:solidFill>
                <a:srgbClr val="343432"/>
              </a:solidFill>
              <a:latin typeface="Quicksand"/>
              <a:ea typeface="Quicksand"/>
              <a:cs typeface="Quicksand"/>
              <a:sym typeface="Quicksand"/>
            </a:endParaRPr>
          </a:p>
        </p:txBody>
      </p:sp>
      <p:grpSp>
        <p:nvGrpSpPr>
          <p:cNvPr id="499" name="Google Shape;499;p15"/>
          <p:cNvGrpSpPr/>
          <p:nvPr/>
        </p:nvGrpSpPr>
        <p:grpSpPr>
          <a:xfrm>
            <a:off x="-3948909" y="7695571"/>
            <a:ext cx="5578409" cy="5578409"/>
            <a:chOff x="0" y="0"/>
            <a:chExt cx="812800" cy="812800"/>
          </a:xfrm>
        </p:grpSpPr>
        <p:sp>
          <p:nvSpPr>
            <p:cNvPr id="500" name="Google Shape;500;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02" name="Google Shape;502;p15"/>
          <p:cNvGrpSpPr/>
          <p:nvPr/>
        </p:nvGrpSpPr>
        <p:grpSpPr>
          <a:xfrm>
            <a:off x="1376542" y="7089324"/>
            <a:ext cx="452486" cy="452486"/>
            <a:chOff x="0" y="0"/>
            <a:chExt cx="812800" cy="812800"/>
          </a:xfrm>
        </p:grpSpPr>
        <p:sp>
          <p:nvSpPr>
            <p:cNvPr id="503" name="Google Shape;503;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1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05" name="Google Shape;505;p15"/>
          <p:cNvGrpSpPr/>
          <p:nvPr/>
        </p:nvGrpSpPr>
        <p:grpSpPr>
          <a:xfrm>
            <a:off x="15017929" y="-2533783"/>
            <a:ext cx="5002094" cy="5002094"/>
            <a:chOff x="0" y="0"/>
            <a:chExt cx="812800" cy="812800"/>
          </a:xfrm>
        </p:grpSpPr>
        <p:sp>
          <p:nvSpPr>
            <p:cNvPr id="506" name="Google Shape;506;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alpha val="32549"/>
              </a:srgbClr>
            </a:solidFill>
            <a:ln w="742950" cap="sq" cmpd="sng">
              <a:solidFill>
                <a:srgbClr val="188C8C">
                  <a:alpha val="32549"/>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08" name="Google Shape;508;p15"/>
          <p:cNvGrpSpPr/>
          <p:nvPr/>
        </p:nvGrpSpPr>
        <p:grpSpPr>
          <a:xfrm>
            <a:off x="2474175" y="8615767"/>
            <a:ext cx="1183437" cy="1183437"/>
            <a:chOff x="0" y="0"/>
            <a:chExt cx="812800" cy="812800"/>
          </a:xfrm>
        </p:grpSpPr>
        <p:sp>
          <p:nvSpPr>
            <p:cNvPr id="509" name="Google Shape;509;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5"/>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11" name="Google Shape;511;p15"/>
          <p:cNvGrpSpPr/>
          <p:nvPr/>
        </p:nvGrpSpPr>
        <p:grpSpPr>
          <a:xfrm>
            <a:off x="16113923" y="9258300"/>
            <a:ext cx="327444" cy="327444"/>
            <a:chOff x="0" y="0"/>
            <a:chExt cx="812800" cy="812800"/>
          </a:xfrm>
        </p:grpSpPr>
        <p:sp>
          <p:nvSpPr>
            <p:cNvPr id="512" name="Google Shape;512;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5"/>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14" name="Google Shape;514;p15"/>
          <p:cNvGrpSpPr/>
          <p:nvPr/>
        </p:nvGrpSpPr>
        <p:grpSpPr>
          <a:xfrm>
            <a:off x="15648108" y="9258300"/>
            <a:ext cx="327444" cy="327444"/>
            <a:chOff x="0" y="0"/>
            <a:chExt cx="812800" cy="812800"/>
          </a:xfrm>
        </p:grpSpPr>
        <p:sp>
          <p:nvSpPr>
            <p:cNvPr id="515" name="Google Shape;515;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5"/>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17" name="Google Shape;517;p15"/>
          <p:cNvGrpSpPr/>
          <p:nvPr/>
        </p:nvGrpSpPr>
        <p:grpSpPr>
          <a:xfrm>
            <a:off x="15161723" y="9258300"/>
            <a:ext cx="327444" cy="327444"/>
            <a:chOff x="0" y="0"/>
            <a:chExt cx="812800" cy="812800"/>
          </a:xfrm>
        </p:grpSpPr>
        <p:sp>
          <p:nvSpPr>
            <p:cNvPr id="518" name="Google Shape;518;p15"/>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15"/>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520" name="Google Shape;520;p15"/>
          <p:cNvSpPr/>
          <p:nvPr/>
        </p:nvSpPr>
        <p:spPr>
          <a:xfrm>
            <a:off x="13464459" y="840967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521" name="Google Shape;521;p15"/>
          <p:cNvGraphicFramePr/>
          <p:nvPr>
            <p:extLst>
              <p:ext uri="{D42A27DB-BD31-4B8C-83A1-F6EECF244321}">
                <p14:modId xmlns:p14="http://schemas.microsoft.com/office/powerpoint/2010/main" val="1801368490"/>
              </p:ext>
            </p:extLst>
          </p:nvPr>
        </p:nvGraphicFramePr>
        <p:xfrm>
          <a:off x="3582956" y="3223589"/>
          <a:ext cx="13755810" cy="4899285"/>
        </p:xfrm>
        <a:graphic>
          <a:graphicData uri="http://schemas.openxmlformats.org/drawingml/2006/table">
            <a:tbl>
              <a:tblPr firstRow="1" bandRow="1">
                <a:noFill/>
                <a:tableStyleId>{31458D1D-8245-40D1-950D-EE645A773D64}</a:tableStyleId>
              </a:tblPr>
              <a:tblGrid>
                <a:gridCol w="3123785"/>
                <a:gridCol w="1807025"/>
                <a:gridCol w="1765000"/>
                <a:gridCol w="1765000"/>
                <a:gridCol w="1765000"/>
                <a:gridCol w="1765000"/>
                <a:gridCol w="1765000"/>
              </a:tblGrid>
              <a:tr h="415750">
                <a:tc>
                  <a:txBody>
                    <a:bodyPr/>
                    <a:lstStyle/>
                    <a:p>
                      <a:pPr marL="0" marR="0" lvl="0" indent="0" algn="ctr" rtl="0">
                        <a:spcBef>
                          <a:spcPts val="0"/>
                        </a:spcBef>
                        <a:spcAft>
                          <a:spcPts val="0"/>
                        </a:spcAft>
                        <a:buNone/>
                      </a:pPr>
                      <a:endParaRPr sz="2000" b="1" u="none" strike="noStrike" cap="none" dirty="0"/>
                    </a:p>
                  </a:txBody>
                  <a:tcPr marL="91450" marR="91450" marT="45725" marB="45725">
                    <a:solidFill>
                      <a:srgbClr val="2FBFC2"/>
                    </a:solidFill>
                  </a:tcPr>
                </a:tc>
                <a:tc gridSpan="3">
                  <a:txBody>
                    <a:bodyPr/>
                    <a:lstStyle/>
                    <a:p>
                      <a:pPr marL="0" marR="0" lvl="0" indent="0" algn="ctr" rtl="0">
                        <a:spcBef>
                          <a:spcPts val="0"/>
                        </a:spcBef>
                        <a:spcAft>
                          <a:spcPts val="0"/>
                        </a:spcAft>
                        <a:buNone/>
                      </a:pPr>
                      <a:r>
                        <a:rPr lang="en-US" sz="2400" b="1" u="none" strike="noStrike" cap="none"/>
                        <a:t>Current</a:t>
                      </a:r>
                      <a:endParaRPr sz="2400" b="1" u="none" strike="noStrike" cap="none"/>
                    </a:p>
                  </a:txBody>
                  <a:tcPr marL="91450" marR="91450" marT="45725" marB="45725" anchor="ctr">
                    <a:solidFill>
                      <a:srgbClr val="2FBFC2"/>
                    </a:solidFill>
                  </a:tcPr>
                </a:tc>
                <a:tc hMerge="1">
                  <a:txBody>
                    <a:bodyPr/>
                    <a:lstStyle/>
                    <a:p>
                      <a:endParaRPr lang="en-US"/>
                    </a:p>
                  </a:txBody>
                  <a:tcPr/>
                </a:tc>
                <a:tc hMerge="1">
                  <a:txBody>
                    <a:bodyPr/>
                    <a:lstStyle/>
                    <a:p>
                      <a:endParaRPr lang="en-US"/>
                    </a:p>
                  </a:txBody>
                  <a:tcPr/>
                </a:tc>
                <a:tc gridSpan="3">
                  <a:txBody>
                    <a:bodyPr/>
                    <a:lstStyle/>
                    <a:p>
                      <a:pPr marL="0" marR="0" lvl="0" indent="0" algn="ctr" rtl="0">
                        <a:spcBef>
                          <a:spcPts val="0"/>
                        </a:spcBef>
                        <a:spcAft>
                          <a:spcPts val="0"/>
                        </a:spcAft>
                        <a:buNone/>
                      </a:pPr>
                      <a:r>
                        <a:rPr lang="en-US" sz="2400" b="1" u="none" strike="noStrike" cap="none"/>
                        <a:t>Projected / Forecasted</a:t>
                      </a:r>
                      <a:endParaRPr sz="2400" b="1" u="none" strike="noStrike" cap="none"/>
                    </a:p>
                  </a:txBody>
                  <a:tcPr marL="91450" marR="91450" marT="45725" marB="45725" anchor="ctr">
                    <a:solidFill>
                      <a:srgbClr val="2FBFC2"/>
                    </a:solidFill>
                  </a:tcPr>
                </a:tc>
                <a:tc hMerge="1">
                  <a:txBody>
                    <a:bodyPr/>
                    <a:lstStyle/>
                    <a:p>
                      <a:endParaRPr lang="en-US"/>
                    </a:p>
                  </a:txBody>
                  <a:tcPr/>
                </a:tc>
                <a:tc hMerge="1">
                  <a:txBody>
                    <a:bodyPr/>
                    <a:lstStyle/>
                    <a:p>
                      <a:endParaRPr lang="en-US"/>
                    </a:p>
                  </a:txBody>
                  <a:tcPr/>
                </a:tc>
              </a:tr>
              <a:tr h="941825">
                <a:tc>
                  <a:txBody>
                    <a:bodyPr/>
                    <a:lstStyle/>
                    <a:p>
                      <a:pPr marL="0" marR="0" lvl="0" indent="0" algn="ctr" rtl="0">
                        <a:spcBef>
                          <a:spcPts val="0"/>
                        </a:spcBef>
                        <a:spcAft>
                          <a:spcPts val="0"/>
                        </a:spcAft>
                        <a:buNone/>
                      </a:pPr>
                      <a:r>
                        <a:rPr lang="en-US" sz="2300" b="1" u="none" strike="noStrike" cap="none">
                          <a:solidFill>
                            <a:schemeClr val="lt1"/>
                          </a:solidFill>
                        </a:rPr>
                        <a:t>Quarter</a:t>
                      </a:r>
                      <a:endParaRPr sz="2300" b="1" u="none" strike="noStrike" cap="none">
                        <a:solidFill>
                          <a:schemeClr val="lt1"/>
                        </a:solidFill>
                      </a:endParaRPr>
                    </a:p>
                  </a:txBody>
                  <a:tcPr marL="91450" marR="91450" marT="45725" marB="45725" anchor="ctr">
                    <a:solidFill>
                      <a:srgbClr val="2FBFC2"/>
                    </a:solidFill>
                  </a:tcPr>
                </a:tc>
                <a:tc>
                  <a:txBody>
                    <a:bodyPr/>
                    <a:lstStyle/>
                    <a:p>
                      <a:pPr marL="0" marR="0" lvl="0" indent="0" algn="r" rtl="0">
                        <a:spcBef>
                          <a:spcPts val="0"/>
                        </a:spcBef>
                        <a:spcAft>
                          <a:spcPts val="0"/>
                        </a:spcAft>
                        <a:buNone/>
                      </a:pPr>
                      <a:r>
                        <a:rPr lang="en-US" sz="2000" b="1" u="none" strike="noStrike" cap="none" dirty="0"/>
                        <a:t>Q1 – </a:t>
                      </a:r>
                      <a:r>
                        <a:rPr lang="en-US" sz="2000" b="1" u="none" strike="noStrike" cap="none" dirty="0" smtClean="0"/>
                        <a:t>2026</a:t>
                      </a:r>
                    </a:p>
                    <a:p>
                      <a:pPr marL="0" marR="0" lvl="0" indent="0" algn="r" rtl="0">
                        <a:spcBef>
                          <a:spcPts val="0"/>
                        </a:spcBef>
                        <a:spcAft>
                          <a:spcPts val="0"/>
                        </a:spcAft>
                        <a:buNone/>
                      </a:pPr>
                      <a:r>
                        <a:rPr lang="en-US" sz="2000" b="1" u="none" strike="noStrike" cap="none" dirty="0" smtClean="0"/>
                        <a:t>Jan</a:t>
                      </a:r>
                      <a:r>
                        <a:rPr lang="en-US" sz="2000" b="1" u="none" strike="noStrike" cap="none" baseline="0" dirty="0" smtClean="0"/>
                        <a:t>-Feb-Mar</a:t>
                      </a:r>
                      <a:endParaRPr lang="en-US" sz="2000" b="1" u="none" strike="noStrike" cap="none" dirty="0" smtClean="0"/>
                    </a:p>
                  </a:txBody>
                  <a:tcPr marL="91450" marR="91450" marT="45725" marB="45725" anchor="ctr">
                    <a:solidFill>
                      <a:srgbClr val="E2E34F"/>
                    </a:solidFill>
                  </a:tcPr>
                </a:tc>
                <a:tc>
                  <a:txBody>
                    <a:bodyPr/>
                    <a:lstStyle/>
                    <a:p>
                      <a:pPr marL="0" marR="0" lvl="0" indent="0" algn="r" rtl="0">
                        <a:spcBef>
                          <a:spcPts val="0"/>
                        </a:spcBef>
                        <a:spcAft>
                          <a:spcPts val="0"/>
                        </a:spcAft>
                        <a:buNone/>
                      </a:pPr>
                      <a:r>
                        <a:rPr lang="en-US" sz="2000" b="1" u="none" strike="noStrike" cap="none" dirty="0"/>
                        <a:t>Q2 – </a:t>
                      </a:r>
                      <a:r>
                        <a:rPr lang="en-US" sz="2000" b="1" u="none" strike="noStrike" cap="none" dirty="0" smtClean="0"/>
                        <a:t>2026</a:t>
                      </a:r>
                    </a:p>
                    <a:p>
                      <a:pPr marL="0" marR="0" lvl="0" indent="0" algn="r" rtl="0">
                        <a:spcBef>
                          <a:spcPts val="0"/>
                        </a:spcBef>
                        <a:spcAft>
                          <a:spcPts val="0"/>
                        </a:spcAft>
                        <a:buNone/>
                      </a:pPr>
                      <a:r>
                        <a:rPr lang="en-US" sz="2000" b="1" u="none" strike="noStrike" cap="none" dirty="0" smtClean="0"/>
                        <a:t>Apr-</a:t>
                      </a:r>
                      <a:r>
                        <a:rPr lang="en-US" sz="2000" b="1" u="none" strike="noStrike" cap="none" baseline="0" dirty="0" smtClean="0"/>
                        <a:t>May- Jun</a:t>
                      </a:r>
                      <a:r>
                        <a:rPr lang="en-US" sz="2000" b="1" u="none" strike="noStrike" cap="none" dirty="0" smtClean="0"/>
                        <a:t> </a:t>
                      </a:r>
                      <a:endParaRPr sz="2000" b="1" u="none" strike="noStrike" cap="none" dirty="0"/>
                    </a:p>
                  </a:txBody>
                  <a:tcPr marL="91450" marR="91450" marT="45725" marB="45725" anchor="ctr">
                    <a:solidFill>
                      <a:srgbClr val="E2E34F"/>
                    </a:solidFill>
                  </a:tcPr>
                </a:tc>
                <a:tc>
                  <a:txBody>
                    <a:bodyPr/>
                    <a:lstStyle/>
                    <a:p>
                      <a:pPr marL="0" marR="0" lvl="0" indent="0" algn="r" rtl="0">
                        <a:spcBef>
                          <a:spcPts val="0"/>
                        </a:spcBef>
                        <a:spcAft>
                          <a:spcPts val="0"/>
                        </a:spcAft>
                        <a:buNone/>
                      </a:pPr>
                      <a:r>
                        <a:rPr lang="en-US" sz="2000" b="1" u="none" strike="noStrike" cap="none" dirty="0"/>
                        <a:t>Q3 – </a:t>
                      </a:r>
                      <a:r>
                        <a:rPr lang="en-US" sz="2000" b="1" u="none" strike="noStrike" cap="none" dirty="0" smtClean="0"/>
                        <a:t>2026</a:t>
                      </a: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2000" b="1" u="none" strike="noStrike" cap="none" dirty="0" smtClean="0"/>
                        <a:t>Jul</a:t>
                      </a:r>
                      <a:r>
                        <a:rPr lang="en-US" sz="2000" b="1" u="none" strike="noStrike" cap="none" baseline="0" dirty="0" smtClean="0"/>
                        <a:t>-</a:t>
                      </a:r>
                      <a:r>
                        <a:rPr lang="en-US" sz="2000" b="1" u="none" strike="noStrike" cap="none" dirty="0" smtClean="0"/>
                        <a:t>Aug-Sept </a:t>
                      </a:r>
                      <a:endParaRPr sz="2000" b="1" u="none" strike="noStrike" cap="none" dirty="0"/>
                    </a:p>
                  </a:txBody>
                  <a:tcPr marL="91450" marR="91450" marT="45725" marB="45725" anchor="ctr">
                    <a:solidFill>
                      <a:srgbClr val="E2E34F"/>
                    </a:solidFill>
                  </a:tcPr>
                </a:tc>
                <a:tc>
                  <a:txBody>
                    <a:bodyPr/>
                    <a:lstStyle/>
                    <a:p>
                      <a:pPr marL="0" marR="0" lvl="0" indent="0" algn="r" rtl="0">
                        <a:spcBef>
                          <a:spcPts val="0"/>
                        </a:spcBef>
                        <a:spcAft>
                          <a:spcPts val="0"/>
                        </a:spcAft>
                        <a:buNone/>
                      </a:pPr>
                      <a:r>
                        <a:rPr lang="en-US" sz="2000" b="1" u="none" strike="noStrike" cap="none" dirty="0"/>
                        <a:t>Q4 – </a:t>
                      </a:r>
                      <a:r>
                        <a:rPr lang="en-US" sz="2000" b="1" u="none" strike="noStrike" cap="none" dirty="0" smtClean="0"/>
                        <a:t>2026</a:t>
                      </a:r>
                    </a:p>
                    <a:p>
                      <a:pPr marL="0" marR="0" lvl="0" indent="0" algn="r" rtl="0">
                        <a:spcBef>
                          <a:spcPts val="0"/>
                        </a:spcBef>
                        <a:spcAft>
                          <a:spcPts val="0"/>
                        </a:spcAft>
                        <a:buNone/>
                      </a:pPr>
                      <a:r>
                        <a:rPr lang="en-US" sz="2000" b="1" u="none" strike="noStrike" cap="none" dirty="0" smtClean="0"/>
                        <a:t>Oct</a:t>
                      </a:r>
                      <a:r>
                        <a:rPr lang="en-US" sz="2000" b="1" u="none" strike="noStrike" cap="none" baseline="0" dirty="0" smtClean="0"/>
                        <a:t>-</a:t>
                      </a:r>
                      <a:r>
                        <a:rPr lang="en-US" sz="2000" b="1" u="none" strike="noStrike" cap="none" dirty="0" smtClean="0"/>
                        <a:t>Nov</a:t>
                      </a:r>
                      <a:r>
                        <a:rPr lang="en-US" sz="2000" b="1" u="none" strike="noStrike" cap="none" baseline="0" dirty="0" smtClean="0"/>
                        <a:t>-</a:t>
                      </a:r>
                      <a:r>
                        <a:rPr lang="en-US" sz="2000" b="1" u="none" strike="noStrike" cap="none" dirty="0" smtClean="0"/>
                        <a:t>Dec</a:t>
                      </a:r>
                      <a:endParaRPr sz="2000" dirty="0"/>
                    </a:p>
                  </a:txBody>
                  <a:tcPr marL="91450" marR="91450" marT="45725" marB="45725" anchor="ctr">
                    <a:solidFill>
                      <a:srgbClr val="E2E34F"/>
                    </a:solidFill>
                  </a:tcPr>
                </a:tc>
                <a:tc>
                  <a:txBody>
                    <a:bodyPr/>
                    <a:lstStyle/>
                    <a:p>
                      <a:pPr marL="0" marR="0" lvl="0" indent="0" algn="r" rtl="0">
                        <a:spcBef>
                          <a:spcPts val="0"/>
                        </a:spcBef>
                        <a:spcAft>
                          <a:spcPts val="0"/>
                        </a:spcAft>
                        <a:buNone/>
                      </a:pPr>
                      <a:r>
                        <a:rPr lang="en-US" sz="2000" b="1" u="none" strike="noStrike" cap="none" dirty="0"/>
                        <a:t>Q1 – </a:t>
                      </a:r>
                      <a:r>
                        <a:rPr lang="en-US" sz="2000" b="1" u="none" strike="noStrike" cap="none" dirty="0" smtClean="0"/>
                        <a:t>2027</a:t>
                      </a:r>
                    </a:p>
                    <a:p>
                      <a:pPr marL="0" marR="0" lvl="0" indent="0" algn="r" rtl="0">
                        <a:spcBef>
                          <a:spcPts val="0"/>
                        </a:spcBef>
                        <a:spcAft>
                          <a:spcPts val="0"/>
                        </a:spcAft>
                        <a:buNone/>
                      </a:pPr>
                      <a:r>
                        <a:rPr lang="en-US" sz="2000" b="1" u="none" strike="noStrike" cap="none" dirty="0" smtClean="0"/>
                        <a:t>Jan</a:t>
                      </a:r>
                      <a:r>
                        <a:rPr lang="en-US" sz="2000" b="1" u="none" strike="noStrike" cap="none" baseline="0" dirty="0" smtClean="0"/>
                        <a:t>-Feb-Mar</a:t>
                      </a:r>
                      <a:endParaRPr lang="en-US" sz="2000" b="1" u="none" strike="noStrike" cap="none" dirty="0" smtClean="0"/>
                    </a:p>
                  </a:txBody>
                  <a:tcPr marL="91450" marR="91450" marT="45725" marB="45725" anchor="ctr">
                    <a:solidFill>
                      <a:srgbClr val="E2E34F"/>
                    </a:solidFill>
                  </a:tcPr>
                </a:tc>
                <a:tc>
                  <a:txBody>
                    <a:bodyPr/>
                    <a:lstStyle/>
                    <a:p>
                      <a:pPr marL="0" marR="0" lvl="0" indent="0" algn="r" rtl="0">
                        <a:spcBef>
                          <a:spcPts val="0"/>
                        </a:spcBef>
                        <a:spcAft>
                          <a:spcPts val="0"/>
                        </a:spcAft>
                        <a:buNone/>
                      </a:pPr>
                      <a:r>
                        <a:rPr lang="en-US" sz="2000" b="1" u="none" strike="noStrike" cap="none" dirty="0"/>
                        <a:t>Q2 – </a:t>
                      </a:r>
                      <a:r>
                        <a:rPr lang="en-US" sz="2000" b="1" u="none" strike="noStrike" cap="none" dirty="0" smtClean="0"/>
                        <a:t>2026</a:t>
                      </a:r>
                    </a:p>
                    <a:p>
                      <a:pPr marL="0" marR="0" lvl="0" indent="0" algn="r" rtl="0">
                        <a:spcBef>
                          <a:spcPts val="0"/>
                        </a:spcBef>
                        <a:spcAft>
                          <a:spcPts val="0"/>
                        </a:spcAft>
                        <a:buNone/>
                      </a:pPr>
                      <a:r>
                        <a:rPr lang="en-US" sz="2000" b="1" u="none" strike="noStrike" cap="none" dirty="0" smtClean="0"/>
                        <a:t>Apr</a:t>
                      </a:r>
                      <a:r>
                        <a:rPr lang="en-US" sz="2000" b="1" u="none" strike="noStrike" cap="none" baseline="0" dirty="0" smtClean="0"/>
                        <a:t>-</a:t>
                      </a:r>
                      <a:r>
                        <a:rPr lang="en-US" sz="2000" b="1" u="none" strike="noStrike" cap="none" dirty="0" smtClean="0"/>
                        <a:t>May</a:t>
                      </a:r>
                      <a:r>
                        <a:rPr lang="en-US" sz="2000" b="1" u="none" strike="noStrike" cap="none" baseline="0" dirty="0" smtClean="0"/>
                        <a:t>-</a:t>
                      </a:r>
                      <a:r>
                        <a:rPr lang="en-US" sz="2000" b="1" u="none" strike="noStrike" cap="none" dirty="0" smtClean="0"/>
                        <a:t>Jun</a:t>
                      </a:r>
                      <a:endParaRPr sz="2000" b="1" u="none" strike="noStrike" cap="none" dirty="0"/>
                    </a:p>
                  </a:txBody>
                  <a:tcPr marL="91450" marR="91450" marT="45725" marB="45725" anchor="ctr">
                    <a:solidFill>
                      <a:srgbClr val="E2E34F"/>
                    </a:solidFill>
                  </a:tcPr>
                </a:tc>
              </a:tr>
              <a:tr h="941825">
                <a:tc>
                  <a:txBody>
                    <a:bodyPr/>
                    <a:lstStyle/>
                    <a:p>
                      <a:pPr marL="0" marR="0" lvl="0" indent="0" algn="l" rtl="0">
                        <a:spcBef>
                          <a:spcPts val="0"/>
                        </a:spcBef>
                        <a:spcAft>
                          <a:spcPts val="0"/>
                        </a:spcAft>
                        <a:buNone/>
                      </a:pPr>
                      <a:r>
                        <a:rPr lang="en-US" sz="2300" b="1" u="none" strike="noStrike" cap="none">
                          <a:solidFill>
                            <a:schemeClr val="lt1"/>
                          </a:solidFill>
                        </a:rPr>
                        <a:t>Customer Acquisition Cost - CAC:</a:t>
                      </a:r>
                      <a:endParaRPr sz="2300" b="1">
                        <a:solidFill>
                          <a:schemeClr val="lt1"/>
                        </a:solidFill>
                      </a:endParaRPr>
                    </a:p>
                  </a:txBody>
                  <a:tcPr marL="91450" marR="91450" marT="45725" marB="45725" anchor="ctr">
                    <a:solidFill>
                      <a:srgbClr val="2FBFC2"/>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dirty="0"/>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dirty="0"/>
                    </a:p>
                  </a:txBody>
                  <a:tcPr marL="91450" marR="91450" marT="45725" marB="45725">
                    <a:solidFill>
                      <a:srgbClr val="E2E34F"/>
                    </a:solidFill>
                  </a:tcPr>
                </a:tc>
              </a:tr>
              <a:tr h="1141500">
                <a:tc>
                  <a:txBody>
                    <a:bodyPr/>
                    <a:lstStyle/>
                    <a:p>
                      <a:pPr marL="0" marR="0" lvl="0" indent="0" algn="l" rtl="0">
                        <a:spcBef>
                          <a:spcPts val="0"/>
                        </a:spcBef>
                        <a:spcAft>
                          <a:spcPts val="0"/>
                        </a:spcAft>
                        <a:buNone/>
                      </a:pPr>
                      <a:r>
                        <a:rPr lang="en-US" sz="2300" b="1">
                          <a:solidFill>
                            <a:schemeClr val="lt1"/>
                          </a:solidFill>
                        </a:rPr>
                        <a:t>Quarterly Recurring Revenue (QRR):</a:t>
                      </a:r>
                      <a:endParaRPr sz="2300">
                        <a:solidFill>
                          <a:schemeClr val="lt1"/>
                        </a:solidFill>
                      </a:endParaRPr>
                    </a:p>
                  </a:txBody>
                  <a:tcPr marL="91450" marR="91450" marT="45725" marB="45725" anchor="ctr">
                    <a:solidFill>
                      <a:srgbClr val="2FBFC2"/>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r>
              <a:tr h="1416925">
                <a:tc>
                  <a:txBody>
                    <a:bodyPr/>
                    <a:lstStyle/>
                    <a:p>
                      <a:pPr marL="0" lvl="0" indent="0" algn="l" rtl="0">
                        <a:spcBef>
                          <a:spcPts val="0"/>
                        </a:spcBef>
                        <a:spcAft>
                          <a:spcPts val="0"/>
                        </a:spcAft>
                        <a:buClr>
                          <a:schemeClr val="dk1"/>
                        </a:buClr>
                        <a:buFont typeface="Arial"/>
                        <a:buNone/>
                      </a:pPr>
                      <a:r>
                        <a:rPr lang="en-US" sz="2300" b="1">
                          <a:solidFill>
                            <a:schemeClr val="lt1"/>
                          </a:solidFill>
                        </a:rPr>
                        <a:t>Life TIme Value of Customer LTV:</a:t>
                      </a:r>
                      <a:endParaRPr sz="2300">
                        <a:solidFill>
                          <a:schemeClr val="lt1"/>
                        </a:solidFill>
                      </a:endParaRPr>
                    </a:p>
                  </a:txBody>
                  <a:tcPr marL="91450" marR="91450" marT="45725" marB="45725" anchor="ctr">
                    <a:solidFill>
                      <a:srgbClr val="2FBFC2"/>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a:p>
                  </a:txBody>
                  <a:tcPr marL="91450" marR="91450" marT="45725" marB="45725">
                    <a:solidFill>
                      <a:srgbClr val="E2E34F"/>
                    </a:solidFill>
                  </a:tcPr>
                </a:tc>
                <a:tc>
                  <a:txBody>
                    <a:bodyPr/>
                    <a:lstStyle/>
                    <a:p>
                      <a:pPr marL="0" marR="0" lvl="0" indent="0" algn="l" rtl="0">
                        <a:spcBef>
                          <a:spcPts val="0"/>
                        </a:spcBef>
                        <a:spcAft>
                          <a:spcPts val="0"/>
                        </a:spcAft>
                        <a:buNone/>
                      </a:pPr>
                      <a:endParaRPr sz="2000" b="1" dirty="0"/>
                    </a:p>
                  </a:txBody>
                  <a:tcPr marL="91450" marR="91450" marT="45725" marB="45725">
                    <a:solidFill>
                      <a:srgbClr val="E2E34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6"/>
        <p:cNvGrpSpPr/>
        <p:nvPr/>
      </p:nvGrpSpPr>
      <p:grpSpPr>
        <a:xfrm>
          <a:off x="0" y="0"/>
          <a:ext cx="0" cy="0"/>
          <a:chOff x="0" y="0"/>
          <a:chExt cx="0" cy="0"/>
        </a:xfrm>
      </p:grpSpPr>
      <p:grpSp>
        <p:nvGrpSpPr>
          <p:cNvPr id="527" name="Google Shape;527;p17"/>
          <p:cNvGrpSpPr/>
          <p:nvPr/>
        </p:nvGrpSpPr>
        <p:grpSpPr>
          <a:xfrm>
            <a:off x="1885579" y="6943063"/>
            <a:ext cx="3086100" cy="1196393"/>
            <a:chOff x="0" y="-38100"/>
            <a:chExt cx="812800" cy="315099"/>
          </a:xfrm>
        </p:grpSpPr>
        <p:sp>
          <p:nvSpPr>
            <p:cNvPr id="528" name="Google Shape;528;p17"/>
            <p:cNvSpPr/>
            <p:nvPr/>
          </p:nvSpPr>
          <p:spPr>
            <a:xfrm>
              <a:off x="0" y="0"/>
              <a:ext cx="812800" cy="276999"/>
            </a:xfrm>
            <a:custGeom>
              <a:avLst/>
              <a:gdLst/>
              <a:ahLst/>
              <a:cxnLst/>
              <a:rect l="l" t="t" r="r" b="b"/>
              <a:pathLst>
                <a:path w="812800" h="276999" extrusionOk="0">
                  <a:moveTo>
                    <a:pt x="0" y="0"/>
                  </a:moveTo>
                  <a:lnTo>
                    <a:pt x="812800" y="0"/>
                  </a:lnTo>
                  <a:lnTo>
                    <a:pt x="812800" y="276999"/>
                  </a:lnTo>
                  <a:lnTo>
                    <a:pt x="0" y="276999"/>
                  </a:lnTo>
                  <a:close/>
                </a:path>
              </a:pathLst>
            </a:custGeom>
            <a:solidFill>
              <a:srgbClr val="E2E34F"/>
            </a:solidFill>
            <a:ln>
              <a:noFill/>
            </a:ln>
          </p:spPr>
        </p:sp>
        <p:sp>
          <p:nvSpPr>
            <p:cNvPr id="529" name="Google Shape;529;p17"/>
            <p:cNvSpPr txBox="1"/>
            <p:nvPr/>
          </p:nvSpPr>
          <p:spPr>
            <a:xfrm>
              <a:off x="0" y="-38100"/>
              <a:ext cx="812800" cy="315099"/>
            </a:xfrm>
            <a:prstGeom prst="rect">
              <a:avLst/>
            </a:prstGeom>
            <a:noFill/>
            <a:ln>
              <a:noFill/>
            </a:ln>
          </p:spPr>
          <p:txBody>
            <a:bodyPr spcFirstLastPara="1" wrap="square" lIns="50800" tIns="50800" rIns="50800" bIns="50800" anchor="ctr" anchorCtr="0">
              <a:noAutofit/>
            </a:bodyPr>
            <a:lstStyle/>
            <a:p>
              <a:pPr marL="0" marR="0" lvl="0" indent="0" algn="ctr" rtl="0">
                <a:lnSpc>
                  <a:spcPct val="1686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31" name="Google Shape;531;p17"/>
          <p:cNvGrpSpPr/>
          <p:nvPr/>
        </p:nvGrpSpPr>
        <p:grpSpPr>
          <a:xfrm>
            <a:off x="5383889" y="6943063"/>
            <a:ext cx="3086100" cy="1196393"/>
            <a:chOff x="0" y="-38100"/>
            <a:chExt cx="812800" cy="315099"/>
          </a:xfrm>
        </p:grpSpPr>
        <p:sp>
          <p:nvSpPr>
            <p:cNvPr id="532" name="Google Shape;532;p17"/>
            <p:cNvSpPr/>
            <p:nvPr/>
          </p:nvSpPr>
          <p:spPr>
            <a:xfrm>
              <a:off x="0" y="0"/>
              <a:ext cx="812800" cy="276999"/>
            </a:xfrm>
            <a:custGeom>
              <a:avLst/>
              <a:gdLst/>
              <a:ahLst/>
              <a:cxnLst/>
              <a:rect l="l" t="t" r="r" b="b"/>
              <a:pathLst>
                <a:path w="812800" h="276999" extrusionOk="0">
                  <a:moveTo>
                    <a:pt x="0" y="0"/>
                  </a:moveTo>
                  <a:lnTo>
                    <a:pt x="812800" y="0"/>
                  </a:lnTo>
                  <a:lnTo>
                    <a:pt x="812800" y="276999"/>
                  </a:lnTo>
                  <a:lnTo>
                    <a:pt x="0" y="276999"/>
                  </a:lnTo>
                  <a:close/>
                </a:path>
              </a:pathLst>
            </a:custGeom>
            <a:solidFill>
              <a:srgbClr val="E2E34F"/>
            </a:solidFill>
            <a:ln>
              <a:noFill/>
            </a:ln>
          </p:spPr>
        </p:sp>
        <p:sp>
          <p:nvSpPr>
            <p:cNvPr id="533" name="Google Shape;533;p17"/>
            <p:cNvSpPr txBox="1"/>
            <p:nvPr/>
          </p:nvSpPr>
          <p:spPr>
            <a:xfrm>
              <a:off x="0" y="-38100"/>
              <a:ext cx="812800" cy="315099"/>
            </a:xfrm>
            <a:prstGeom prst="rect">
              <a:avLst/>
            </a:prstGeom>
            <a:noFill/>
            <a:ln>
              <a:noFill/>
            </a:ln>
          </p:spPr>
          <p:txBody>
            <a:bodyPr spcFirstLastPara="1" wrap="square" lIns="50800" tIns="50800" rIns="50800" bIns="50800" anchor="ctr" anchorCtr="0">
              <a:noAutofit/>
            </a:bodyPr>
            <a:lstStyle/>
            <a:p>
              <a:pPr marL="0" marR="0" lvl="0" indent="0" algn="ctr" rtl="0">
                <a:lnSpc>
                  <a:spcPct val="1686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35" name="Google Shape;535;p17"/>
          <p:cNvGrpSpPr/>
          <p:nvPr/>
        </p:nvGrpSpPr>
        <p:grpSpPr>
          <a:xfrm>
            <a:off x="8879564" y="6943063"/>
            <a:ext cx="3086100" cy="1196393"/>
            <a:chOff x="0" y="-38100"/>
            <a:chExt cx="812800" cy="315099"/>
          </a:xfrm>
        </p:grpSpPr>
        <p:sp>
          <p:nvSpPr>
            <p:cNvPr id="536" name="Google Shape;536;p17"/>
            <p:cNvSpPr/>
            <p:nvPr/>
          </p:nvSpPr>
          <p:spPr>
            <a:xfrm>
              <a:off x="0" y="0"/>
              <a:ext cx="812800" cy="276999"/>
            </a:xfrm>
            <a:custGeom>
              <a:avLst/>
              <a:gdLst/>
              <a:ahLst/>
              <a:cxnLst/>
              <a:rect l="l" t="t" r="r" b="b"/>
              <a:pathLst>
                <a:path w="812800" h="276999" extrusionOk="0">
                  <a:moveTo>
                    <a:pt x="0" y="0"/>
                  </a:moveTo>
                  <a:lnTo>
                    <a:pt x="812800" y="0"/>
                  </a:lnTo>
                  <a:lnTo>
                    <a:pt x="812800" y="276999"/>
                  </a:lnTo>
                  <a:lnTo>
                    <a:pt x="0" y="276999"/>
                  </a:lnTo>
                  <a:close/>
                </a:path>
              </a:pathLst>
            </a:custGeom>
            <a:solidFill>
              <a:srgbClr val="E2E34F"/>
            </a:solidFill>
            <a:ln>
              <a:noFill/>
            </a:ln>
          </p:spPr>
        </p:sp>
        <p:sp>
          <p:nvSpPr>
            <p:cNvPr id="537" name="Google Shape;537;p17"/>
            <p:cNvSpPr txBox="1"/>
            <p:nvPr/>
          </p:nvSpPr>
          <p:spPr>
            <a:xfrm>
              <a:off x="0" y="-38100"/>
              <a:ext cx="812800" cy="315099"/>
            </a:xfrm>
            <a:prstGeom prst="rect">
              <a:avLst/>
            </a:prstGeom>
            <a:noFill/>
            <a:ln>
              <a:noFill/>
            </a:ln>
          </p:spPr>
          <p:txBody>
            <a:bodyPr spcFirstLastPara="1" wrap="square" lIns="50800" tIns="50800" rIns="50800" bIns="50800" anchor="ctr" anchorCtr="0">
              <a:noAutofit/>
            </a:bodyPr>
            <a:lstStyle/>
            <a:p>
              <a:pPr marL="0" marR="0" lvl="0" indent="0" algn="ctr" rtl="0">
                <a:lnSpc>
                  <a:spcPct val="168611"/>
                </a:lnSpc>
                <a:spcBef>
                  <a:spcPts val="0"/>
                </a:spcBef>
                <a:spcAft>
                  <a:spcPts val="0"/>
                </a:spcAft>
                <a:buNone/>
              </a:pPr>
              <a:endParaRPr sz="1800">
                <a:solidFill>
                  <a:schemeClr val="dk1"/>
                </a:solidFill>
                <a:latin typeface="Calibri"/>
                <a:ea typeface="Calibri"/>
                <a:cs typeface="Calibri"/>
                <a:sym typeface="Calibri"/>
              </a:endParaRPr>
            </a:p>
          </p:txBody>
        </p:sp>
      </p:grpSp>
      <p:sp>
        <p:nvSpPr>
          <p:cNvPr id="539" name="Google Shape;539;p17"/>
          <p:cNvSpPr/>
          <p:nvPr/>
        </p:nvSpPr>
        <p:spPr>
          <a:xfrm flipH="1">
            <a:off x="14910781" y="0"/>
            <a:ext cx="3377219" cy="3377219"/>
          </a:xfrm>
          <a:custGeom>
            <a:avLst/>
            <a:gdLst/>
            <a:ahLst/>
            <a:cxnLst/>
            <a:rect l="l" t="t" r="r" b="b"/>
            <a:pathLst>
              <a:path w="3377219" h="3377219" extrusionOk="0">
                <a:moveTo>
                  <a:pt x="3377219" y="0"/>
                </a:moveTo>
                <a:lnTo>
                  <a:pt x="0" y="0"/>
                </a:lnTo>
                <a:lnTo>
                  <a:pt x="0" y="3377219"/>
                </a:lnTo>
                <a:lnTo>
                  <a:pt x="3377219" y="3377219"/>
                </a:lnTo>
                <a:lnTo>
                  <a:pt x="3377219" y="0"/>
                </a:lnTo>
                <a:close/>
              </a:path>
            </a:pathLst>
          </a:custGeom>
          <a:blipFill rotWithShape="1">
            <a:blip r:embed="rId3">
              <a:alphaModFix/>
            </a:blip>
            <a:stretch>
              <a:fillRect/>
            </a:stretch>
          </a:blipFill>
          <a:ln>
            <a:noFill/>
          </a:ln>
        </p:spPr>
      </p:sp>
      <p:grpSp>
        <p:nvGrpSpPr>
          <p:cNvPr id="540" name="Google Shape;540;p17"/>
          <p:cNvGrpSpPr/>
          <p:nvPr/>
        </p:nvGrpSpPr>
        <p:grpSpPr>
          <a:xfrm>
            <a:off x="-1923846" y="8186287"/>
            <a:ext cx="4201427" cy="4201427"/>
            <a:chOff x="0" y="0"/>
            <a:chExt cx="812800" cy="812800"/>
          </a:xfrm>
        </p:grpSpPr>
        <p:sp>
          <p:nvSpPr>
            <p:cNvPr id="541" name="Google Shape;541;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188C8C"/>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7"/>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sp>
        <p:nvSpPr>
          <p:cNvPr id="543" name="Google Shape;543;p17"/>
          <p:cNvSpPr txBox="1"/>
          <p:nvPr/>
        </p:nvSpPr>
        <p:spPr>
          <a:xfrm>
            <a:off x="2063037" y="7171792"/>
            <a:ext cx="2731184" cy="433363"/>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38">
                <a:solidFill>
                  <a:srgbClr val="000000"/>
                </a:solidFill>
                <a:latin typeface="Roboto Condensed"/>
                <a:ea typeface="Roboto Condensed"/>
                <a:cs typeface="Roboto Condensed"/>
                <a:sym typeface="Roboto Condensed"/>
              </a:rPr>
              <a:t>Name</a:t>
            </a:r>
            <a:endParaRPr/>
          </a:p>
        </p:txBody>
      </p:sp>
      <p:sp>
        <p:nvSpPr>
          <p:cNvPr id="544" name="Google Shape;544;p17"/>
          <p:cNvSpPr txBox="1"/>
          <p:nvPr/>
        </p:nvSpPr>
        <p:spPr>
          <a:xfrm>
            <a:off x="2277581" y="7681355"/>
            <a:ext cx="2302097" cy="276225"/>
          </a:xfrm>
          <a:prstGeom prst="rect">
            <a:avLst/>
          </a:prstGeom>
          <a:noFill/>
          <a:ln>
            <a:noFill/>
          </a:ln>
        </p:spPr>
        <p:txBody>
          <a:bodyPr spcFirstLastPara="1" wrap="square" lIns="0" tIns="0" rIns="0" bIns="0" anchor="t" anchorCtr="0">
            <a:spAutoFit/>
          </a:bodyPr>
          <a:lstStyle/>
          <a:p>
            <a:pPr marL="0" marR="0" lvl="0" indent="0" algn="ctr" rtl="0">
              <a:lnSpc>
                <a:spcPct val="120022"/>
              </a:lnSpc>
              <a:spcBef>
                <a:spcPts val="0"/>
              </a:spcBef>
              <a:spcAft>
                <a:spcPts val="0"/>
              </a:spcAft>
              <a:buNone/>
            </a:pPr>
            <a:r>
              <a:rPr lang="en-US" sz="1753">
                <a:solidFill>
                  <a:srgbClr val="000000"/>
                </a:solidFill>
                <a:latin typeface="Roboto Condensed"/>
                <a:ea typeface="Roboto Condensed"/>
                <a:cs typeface="Roboto Condensed"/>
                <a:sym typeface="Roboto Condensed"/>
              </a:rPr>
              <a:t>Designation</a:t>
            </a:r>
            <a:endParaRPr/>
          </a:p>
        </p:txBody>
      </p:sp>
      <p:sp>
        <p:nvSpPr>
          <p:cNvPr id="545" name="Google Shape;545;p17"/>
          <p:cNvSpPr txBox="1"/>
          <p:nvPr/>
        </p:nvSpPr>
        <p:spPr>
          <a:xfrm>
            <a:off x="1885574" y="1521000"/>
            <a:ext cx="7570200" cy="722100"/>
          </a:xfrm>
          <a:prstGeom prst="rect">
            <a:avLst/>
          </a:prstGeom>
          <a:noFill/>
          <a:ln>
            <a:noFill/>
          </a:ln>
        </p:spPr>
        <p:txBody>
          <a:bodyPr spcFirstLastPara="1" wrap="square" lIns="0" tIns="0" rIns="0" bIns="0" anchor="t" anchorCtr="0">
            <a:spAutoFit/>
          </a:bodyPr>
          <a:lstStyle/>
          <a:p>
            <a:pPr marL="0" marR="0" lvl="0" indent="0" algn="l" rtl="0">
              <a:lnSpc>
                <a:spcPct val="140004"/>
              </a:lnSpc>
              <a:spcBef>
                <a:spcPts val="0"/>
              </a:spcBef>
              <a:spcAft>
                <a:spcPts val="0"/>
              </a:spcAft>
              <a:buNone/>
            </a:pPr>
            <a:r>
              <a:rPr lang="en-US" sz="4692" b="1">
                <a:solidFill>
                  <a:srgbClr val="191919"/>
                </a:solidFill>
                <a:latin typeface="Roboto Condensed"/>
                <a:ea typeface="Roboto Condensed"/>
                <a:cs typeface="Roboto Condensed"/>
                <a:sym typeface="Roboto Condensed"/>
              </a:rPr>
              <a:t>13. Founder (s) and Core Team:</a:t>
            </a:r>
            <a:endParaRPr/>
          </a:p>
        </p:txBody>
      </p:sp>
      <p:sp>
        <p:nvSpPr>
          <p:cNvPr id="546" name="Google Shape;546;p17"/>
          <p:cNvSpPr txBox="1"/>
          <p:nvPr/>
        </p:nvSpPr>
        <p:spPr>
          <a:xfrm>
            <a:off x="1885579" y="2416976"/>
            <a:ext cx="12032710" cy="1139212"/>
          </a:xfrm>
          <a:prstGeom prst="rect">
            <a:avLst/>
          </a:prstGeom>
          <a:noFill/>
          <a:ln>
            <a:noFill/>
          </a:ln>
        </p:spPr>
        <p:txBody>
          <a:bodyPr spcFirstLastPara="1" wrap="square" lIns="0" tIns="0" rIns="0" bIns="0" anchor="t" anchorCtr="0">
            <a:spAutoFit/>
          </a:bodyPr>
          <a:lstStyle/>
          <a:p>
            <a:pPr marL="0" marR="0" lvl="0" indent="0" algn="l" rtl="0">
              <a:lnSpc>
                <a:spcPct val="150016"/>
              </a:lnSpc>
              <a:spcBef>
                <a:spcPts val="0"/>
              </a:spcBef>
              <a:spcAft>
                <a:spcPts val="0"/>
              </a:spcAft>
              <a:buNone/>
            </a:pPr>
            <a:r>
              <a:rPr lang="en-US" sz="3099">
                <a:solidFill>
                  <a:srgbClr val="343432"/>
                </a:solidFill>
                <a:latin typeface="Quicksand"/>
                <a:ea typeface="Quicksand"/>
                <a:cs typeface="Quicksand"/>
                <a:sym typeface="Quicksand"/>
              </a:rPr>
              <a:t>What are your unique competencies and abilities that can’t be copied? </a:t>
            </a:r>
            <a:endParaRPr/>
          </a:p>
        </p:txBody>
      </p:sp>
      <p:sp>
        <p:nvSpPr>
          <p:cNvPr id="547" name="Google Shape;547;p17"/>
          <p:cNvSpPr txBox="1"/>
          <p:nvPr/>
        </p:nvSpPr>
        <p:spPr>
          <a:xfrm>
            <a:off x="5561347" y="7171792"/>
            <a:ext cx="2731184" cy="433363"/>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38">
                <a:solidFill>
                  <a:srgbClr val="000000"/>
                </a:solidFill>
                <a:latin typeface="Roboto Condensed"/>
                <a:ea typeface="Roboto Condensed"/>
                <a:cs typeface="Roboto Condensed"/>
                <a:sym typeface="Roboto Condensed"/>
              </a:rPr>
              <a:t>Name</a:t>
            </a:r>
            <a:endParaRPr/>
          </a:p>
        </p:txBody>
      </p:sp>
      <p:sp>
        <p:nvSpPr>
          <p:cNvPr id="548" name="Google Shape;548;p17"/>
          <p:cNvSpPr txBox="1"/>
          <p:nvPr/>
        </p:nvSpPr>
        <p:spPr>
          <a:xfrm>
            <a:off x="5775891" y="7681355"/>
            <a:ext cx="2302097" cy="276225"/>
          </a:xfrm>
          <a:prstGeom prst="rect">
            <a:avLst/>
          </a:prstGeom>
          <a:noFill/>
          <a:ln>
            <a:noFill/>
          </a:ln>
        </p:spPr>
        <p:txBody>
          <a:bodyPr spcFirstLastPara="1" wrap="square" lIns="0" tIns="0" rIns="0" bIns="0" anchor="t" anchorCtr="0">
            <a:spAutoFit/>
          </a:bodyPr>
          <a:lstStyle/>
          <a:p>
            <a:pPr marL="0" marR="0" lvl="0" indent="0" algn="ctr" rtl="0">
              <a:lnSpc>
                <a:spcPct val="120022"/>
              </a:lnSpc>
              <a:spcBef>
                <a:spcPts val="0"/>
              </a:spcBef>
              <a:spcAft>
                <a:spcPts val="0"/>
              </a:spcAft>
              <a:buNone/>
            </a:pPr>
            <a:r>
              <a:rPr lang="en-US" sz="1753">
                <a:solidFill>
                  <a:srgbClr val="000000"/>
                </a:solidFill>
                <a:latin typeface="Roboto Condensed"/>
                <a:ea typeface="Roboto Condensed"/>
                <a:cs typeface="Roboto Condensed"/>
                <a:sym typeface="Roboto Condensed"/>
              </a:rPr>
              <a:t>Designation</a:t>
            </a:r>
            <a:endParaRPr/>
          </a:p>
        </p:txBody>
      </p:sp>
      <p:sp>
        <p:nvSpPr>
          <p:cNvPr id="549" name="Google Shape;549;p17"/>
          <p:cNvSpPr txBox="1"/>
          <p:nvPr/>
        </p:nvSpPr>
        <p:spPr>
          <a:xfrm>
            <a:off x="9057022" y="7171792"/>
            <a:ext cx="2731184" cy="525208"/>
          </a:xfrm>
          <a:prstGeom prst="rect">
            <a:avLst/>
          </a:prstGeom>
          <a:noFill/>
          <a:ln>
            <a:noFill/>
          </a:ln>
        </p:spPr>
        <p:txBody>
          <a:bodyPr spcFirstLastPara="1" wrap="square" lIns="0" tIns="0" rIns="0" bIns="0" anchor="t" anchorCtr="0">
            <a:spAutoFit/>
          </a:bodyPr>
          <a:lstStyle/>
          <a:p>
            <a:pPr marL="0" marR="0" lvl="0" indent="0" algn="ctr" rtl="0">
              <a:lnSpc>
                <a:spcPct val="139991"/>
              </a:lnSpc>
              <a:spcBef>
                <a:spcPts val="0"/>
              </a:spcBef>
              <a:spcAft>
                <a:spcPts val="0"/>
              </a:spcAft>
              <a:buNone/>
            </a:pPr>
            <a:r>
              <a:rPr lang="en-US" sz="2438" dirty="0" smtClean="0">
                <a:solidFill>
                  <a:srgbClr val="000000"/>
                </a:solidFill>
                <a:latin typeface="Roboto Condensed"/>
                <a:ea typeface="Roboto Condensed"/>
                <a:cs typeface="Roboto Condensed"/>
                <a:sym typeface="Roboto Condensed"/>
              </a:rPr>
              <a:t>Name</a:t>
            </a:r>
            <a:endParaRPr dirty="0"/>
          </a:p>
        </p:txBody>
      </p:sp>
      <p:sp>
        <p:nvSpPr>
          <p:cNvPr id="550" name="Google Shape;550;p17"/>
          <p:cNvSpPr txBox="1"/>
          <p:nvPr/>
        </p:nvSpPr>
        <p:spPr>
          <a:xfrm>
            <a:off x="9271566" y="7681355"/>
            <a:ext cx="2302097" cy="323678"/>
          </a:xfrm>
          <a:prstGeom prst="rect">
            <a:avLst/>
          </a:prstGeom>
          <a:noFill/>
          <a:ln>
            <a:noFill/>
          </a:ln>
        </p:spPr>
        <p:txBody>
          <a:bodyPr spcFirstLastPara="1" wrap="square" lIns="0" tIns="0" rIns="0" bIns="0" anchor="t" anchorCtr="0">
            <a:spAutoFit/>
          </a:bodyPr>
          <a:lstStyle/>
          <a:p>
            <a:pPr marL="0" marR="0" lvl="0" indent="0" algn="ctr" rtl="0">
              <a:lnSpc>
                <a:spcPct val="120022"/>
              </a:lnSpc>
              <a:spcBef>
                <a:spcPts val="0"/>
              </a:spcBef>
              <a:spcAft>
                <a:spcPts val="0"/>
              </a:spcAft>
              <a:buNone/>
            </a:pPr>
            <a:r>
              <a:rPr lang="en-US" sz="1753" dirty="0" smtClean="0">
                <a:solidFill>
                  <a:srgbClr val="000000"/>
                </a:solidFill>
                <a:latin typeface="Roboto Condensed"/>
                <a:ea typeface="Roboto Condensed"/>
                <a:cs typeface="Roboto Condensed"/>
                <a:sym typeface="Roboto Condensed"/>
              </a:rPr>
              <a:t>Designation</a:t>
            </a:r>
            <a:endParaRPr dirty="0"/>
          </a:p>
        </p:txBody>
      </p:sp>
      <p:sp>
        <p:nvSpPr>
          <p:cNvPr id="551" name="Google Shape;551;p17"/>
          <p:cNvSpPr txBox="1"/>
          <p:nvPr/>
        </p:nvSpPr>
        <p:spPr>
          <a:xfrm>
            <a:off x="2321969" y="8196606"/>
            <a:ext cx="1646709" cy="1359694"/>
          </a:xfrm>
          <a:prstGeom prst="rect">
            <a:avLst/>
          </a:prstGeom>
          <a:noFill/>
          <a:ln>
            <a:noFill/>
          </a:ln>
        </p:spPr>
        <p:txBody>
          <a:bodyPr spcFirstLastPara="1" wrap="square" lIns="0" tIns="0" rIns="0" bIns="0" anchor="t" anchorCtr="0">
            <a:spAutoFit/>
          </a:bodyPr>
          <a:lstStyle/>
          <a:p>
            <a:pPr marL="0" marR="0" lvl="0" indent="0" algn="ctr" rtl="0">
              <a:lnSpc>
                <a:spcPct val="153111"/>
              </a:lnSpc>
              <a:spcBef>
                <a:spcPts val="0"/>
              </a:spcBef>
              <a:spcAft>
                <a:spcPts val="0"/>
              </a:spcAft>
              <a:buNone/>
            </a:pPr>
            <a:endParaRPr sz="1800" dirty="0">
              <a:solidFill>
                <a:schemeClr val="dk1"/>
              </a:solidFill>
              <a:latin typeface="Calibri"/>
              <a:ea typeface="Calibri"/>
              <a:cs typeface="Calibri"/>
              <a:sym typeface="Calibri"/>
            </a:endParaRPr>
          </a:p>
          <a:p>
            <a:pPr marL="0" marR="0" lvl="0" indent="0" algn="ctr" rtl="0">
              <a:lnSpc>
                <a:spcPct val="140040"/>
              </a:lnSpc>
              <a:spcBef>
                <a:spcPts val="0"/>
              </a:spcBef>
              <a:spcAft>
                <a:spcPts val="0"/>
              </a:spcAft>
              <a:buNone/>
            </a:pPr>
            <a:r>
              <a:rPr lang="en-US" sz="1968" dirty="0">
                <a:solidFill>
                  <a:srgbClr val="000000"/>
                </a:solidFill>
                <a:latin typeface="Quicksand"/>
                <a:ea typeface="Quicksand"/>
                <a:cs typeface="Quicksand"/>
                <a:sym typeface="Quicksand"/>
              </a:rPr>
              <a:t>The Visionary </a:t>
            </a:r>
            <a:endParaRPr dirty="0"/>
          </a:p>
          <a:p>
            <a:pPr marL="0" marR="0" lvl="0" indent="0" algn="ctr" rtl="0">
              <a:lnSpc>
                <a:spcPct val="140040"/>
              </a:lnSpc>
              <a:spcBef>
                <a:spcPts val="0"/>
              </a:spcBef>
              <a:spcAft>
                <a:spcPts val="0"/>
              </a:spcAft>
              <a:buNone/>
            </a:pPr>
            <a:r>
              <a:rPr lang="en-US" sz="1968" dirty="0">
                <a:solidFill>
                  <a:srgbClr val="000000"/>
                </a:solidFill>
                <a:latin typeface="Quicksand"/>
                <a:ea typeface="Quicksand"/>
                <a:cs typeface="Quicksand"/>
                <a:sym typeface="Quicksand"/>
              </a:rPr>
              <a:t>(CEO)</a:t>
            </a:r>
            <a:endParaRPr dirty="0"/>
          </a:p>
          <a:p>
            <a:pPr marL="0" marR="0" lvl="0" indent="0" algn="ctr" rtl="0">
              <a:lnSpc>
                <a:spcPct val="140040"/>
              </a:lnSpc>
              <a:spcBef>
                <a:spcPts val="0"/>
              </a:spcBef>
              <a:spcAft>
                <a:spcPts val="0"/>
              </a:spcAft>
              <a:buNone/>
            </a:pPr>
            <a:endParaRPr sz="1968" dirty="0">
              <a:solidFill>
                <a:srgbClr val="000000"/>
              </a:solidFill>
              <a:latin typeface="Quicksand"/>
              <a:ea typeface="Quicksand"/>
              <a:cs typeface="Quicksand"/>
              <a:sym typeface="Quicksand"/>
            </a:endParaRPr>
          </a:p>
        </p:txBody>
      </p:sp>
      <p:sp>
        <p:nvSpPr>
          <p:cNvPr id="552" name="Google Shape;552;p17"/>
          <p:cNvSpPr txBox="1"/>
          <p:nvPr/>
        </p:nvSpPr>
        <p:spPr>
          <a:xfrm>
            <a:off x="5372786" y="8387106"/>
            <a:ext cx="3105671" cy="1359694"/>
          </a:xfrm>
          <a:prstGeom prst="rect">
            <a:avLst/>
          </a:prstGeom>
          <a:noFill/>
          <a:ln>
            <a:noFill/>
          </a:ln>
        </p:spPr>
        <p:txBody>
          <a:bodyPr spcFirstLastPara="1" wrap="square" lIns="0" tIns="0" rIns="0" bIns="0" anchor="t" anchorCtr="0">
            <a:spAutoFit/>
          </a:bodyPr>
          <a:lstStyle/>
          <a:p>
            <a:pPr marL="0" marR="0" lvl="0" indent="0" algn="ctr" rtl="0">
              <a:lnSpc>
                <a:spcPct val="140040"/>
              </a:lnSpc>
              <a:spcBef>
                <a:spcPts val="0"/>
              </a:spcBef>
              <a:spcAft>
                <a:spcPts val="0"/>
              </a:spcAft>
              <a:buNone/>
            </a:pPr>
            <a:r>
              <a:rPr lang="en-US" sz="1968" dirty="0">
                <a:solidFill>
                  <a:srgbClr val="000000"/>
                </a:solidFill>
                <a:latin typeface="Quicksand"/>
                <a:ea typeface="Quicksand"/>
                <a:cs typeface="Quicksand"/>
                <a:sym typeface="Quicksand"/>
              </a:rPr>
              <a:t>The Hustler</a:t>
            </a:r>
            <a:endParaRPr dirty="0"/>
          </a:p>
          <a:p>
            <a:pPr marL="0" marR="0" lvl="0" indent="0" algn="ctr" rtl="0">
              <a:lnSpc>
                <a:spcPct val="140040"/>
              </a:lnSpc>
              <a:spcBef>
                <a:spcPts val="0"/>
              </a:spcBef>
              <a:spcAft>
                <a:spcPts val="0"/>
              </a:spcAft>
              <a:buNone/>
            </a:pPr>
            <a:r>
              <a:rPr lang="en-US" sz="1968" dirty="0">
                <a:solidFill>
                  <a:srgbClr val="000000"/>
                </a:solidFill>
                <a:latin typeface="Quicksand"/>
                <a:ea typeface="Quicksand"/>
                <a:cs typeface="Quicksand"/>
                <a:sym typeface="Quicksand"/>
              </a:rPr>
              <a:t>(The person who manages</a:t>
            </a:r>
            <a:endParaRPr dirty="0"/>
          </a:p>
          <a:p>
            <a:pPr marL="0" marR="0" lvl="0" indent="0" algn="ctr" rtl="0">
              <a:lnSpc>
                <a:spcPct val="140040"/>
              </a:lnSpc>
              <a:spcBef>
                <a:spcPts val="0"/>
              </a:spcBef>
              <a:spcAft>
                <a:spcPts val="0"/>
              </a:spcAft>
              <a:buNone/>
            </a:pPr>
            <a:r>
              <a:rPr lang="en-US" sz="1968" dirty="0">
                <a:solidFill>
                  <a:srgbClr val="000000"/>
                </a:solidFill>
                <a:latin typeface="Quicksand"/>
                <a:ea typeface="Quicksand"/>
                <a:cs typeface="Quicksand"/>
                <a:sym typeface="Quicksand"/>
              </a:rPr>
              <a:t>the operations)</a:t>
            </a:r>
            <a:endParaRPr dirty="0"/>
          </a:p>
          <a:p>
            <a:pPr marL="0" marR="0" lvl="0" indent="0" algn="ctr" rtl="0">
              <a:lnSpc>
                <a:spcPct val="140040"/>
              </a:lnSpc>
              <a:spcBef>
                <a:spcPts val="0"/>
              </a:spcBef>
              <a:spcAft>
                <a:spcPts val="0"/>
              </a:spcAft>
              <a:buNone/>
            </a:pPr>
            <a:endParaRPr sz="1968" dirty="0">
              <a:solidFill>
                <a:srgbClr val="000000"/>
              </a:solidFill>
              <a:latin typeface="Quicksand"/>
              <a:ea typeface="Quicksand"/>
              <a:cs typeface="Quicksand"/>
              <a:sym typeface="Quicksand"/>
            </a:endParaRPr>
          </a:p>
        </p:txBody>
      </p:sp>
      <p:sp>
        <p:nvSpPr>
          <p:cNvPr id="553" name="Google Shape;553;p17"/>
          <p:cNvSpPr txBox="1"/>
          <p:nvPr/>
        </p:nvSpPr>
        <p:spPr>
          <a:xfrm>
            <a:off x="8919116" y="8377581"/>
            <a:ext cx="3192019" cy="1695849"/>
          </a:xfrm>
          <a:prstGeom prst="rect">
            <a:avLst/>
          </a:prstGeom>
          <a:noFill/>
          <a:ln>
            <a:noFill/>
          </a:ln>
        </p:spPr>
        <p:txBody>
          <a:bodyPr spcFirstLastPara="1" wrap="square" lIns="0" tIns="0" rIns="0" bIns="0" anchor="t" anchorCtr="0">
            <a:spAutoFit/>
          </a:bodyPr>
          <a:lstStyle/>
          <a:p>
            <a:pPr marL="0" marR="0" lvl="0" indent="0" algn="ctr" rtl="0">
              <a:lnSpc>
                <a:spcPct val="140040"/>
              </a:lnSpc>
              <a:spcBef>
                <a:spcPts val="0"/>
              </a:spcBef>
              <a:spcAft>
                <a:spcPts val="0"/>
              </a:spcAft>
              <a:buNone/>
            </a:pPr>
            <a:r>
              <a:rPr lang="en-US" sz="1968" dirty="0">
                <a:solidFill>
                  <a:srgbClr val="000000"/>
                </a:solidFill>
                <a:latin typeface="Quicksand"/>
                <a:ea typeface="Quicksand"/>
                <a:cs typeface="Quicksand"/>
                <a:sym typeface="Quicksand"/>
              </a:rPr>
              <a:t>The Hacker</a:t>
            </a:r>
            <a:endParaRPr dirty="0"/>
          </a:p>
          <a:p>
            <a:pPr marL="0" marR="0" lvl="0" indent="0" algn="ctr" rtl="0">
              <a:lnSpc>
                <a:spcPct val="140040"/>
              </a:lnSpc>
              <a:spcBef>
                <a:spcPts val="0"/>
              </a:spcBef>
              <a:spcAft>
                <a:spcPts val="0"/>
              </a:spcAft>
              <a:buNone/>
            </a:pPr>
            <a:r>
              <a:rPr lang="en-US" sz="1968" dirty="0">
                <a:solidFill>
                  <a:srgbClr val="000000"/>
                </a:solidFill>
                <a:latin typeface="Quicksand"/>
                <a:ea typeface="Quicksand"/>
                <a:cs typeface="Quicksand"/>
                <a:sym typeface="Quicksand"/>
              </a:rPr>
              <a:t>(the programmer or main</a:t>
            </a:r>
            <a:endParaRPr dirty="0"/>
          </a:p>
          <a:p>
            <a:pPr marL="0" marR="0" lvl="0" indent="0" algn="ctr" rtl="0">
              <a:lnSpc>
                <a:spcPct val="140040"/>
              </a:lnSpc>
              <a:spcBef>
                <a:spcPts val="0"/>
              </a:spcBef>
              <a:spcAft>
                <a:spcPts val="0"/>
              </a:spcAft>
              <a:buNone/>
            </a:pPr>
            <a:r>
              <a:rPr lang="en-US" sz="1968" dirty="0">
                <a:solidFill>
                  <a:srgbClr val="000000"/>
                </a:solidFill>
                <a:latin typeface="Quicksand"/>
                <a:ea typeface="Quicksand"/>
                <a:cs typeface="Quicksand"/>
                <a:sym typeface="Quicksand"/>
              </a:rPr>
              <a:t>product developer)</a:t>
            </a:r>
            <a:endParaRPr dirty="0"/>
          </a:p>
          <a:p>
            <a:pPr marL="0" marR="0" lvl="0" indent="0" algn="ctr" rtl="0">
              <a:lnSpc>
                <a:spcPct val="140040"/>
              </a:lnSpc>
              <a:spcBef>
                <a:spcPts val="0"/>
              </a:spcBef>
              <a:spcAft>
                <a:spcPts val="0"/>
              </a:spcAft>
              <a:buNone/>
            </a:pPr>
            <a:endParaRPr sz="1968" dirty="0">
              <a:solidFill>
                <a:srgbClr val="000000"/>
              </a:solidFill>
              <a:latin typeface="Quicksand"/>
              <a:ea typeface="Quicksand"/>
              <a:cs typeface="Quicksand"/>
              <a:sym typeface="Quicksand"/>
            </a:endParaRPr>
          </a:p>
        </p:txBody>
      </p:sp>
      <p:grpSp>
        <p:nvGrpSpPr>
          <p:cNvPr id="554" name="Google Shape;554;p17"/>
          <p:cNvGrpSpPr/>
          <p:nvPr/>
        </p:nvGrpSpPr>
        <p:grpSpPr>
          <a:xfrm>
            <a:off x="16685423" y="8972550"/>
            <a:ext cx="327444" cy="327444"/>
            <a:chOff x="0" y="0"/>
            <a:chExt cx="812800" cy="812800"/>
          </a:xfrm>
        </p:grpSpPr>
        <p:sp>
          <p:nvSpPr>
            <p:cNvPr id="555" name="Google Shape;555;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7"/>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57" name="Google Shape;557;p17"/>
          <p:cNvGrpSpPr/>
          <p:nvPr/>
        </p:nvGrpSpPr>
        <p:grpSpPr>
          <a:xfrm>
            <a:off x="16219608" y="8972550"/>
            <a:ext cx="327444" cy="327444"/>
            <a:chOff x="0" y="0"/>
            <a:chExt cx="812800" cy="812800"/>
          </a:xfrm>
        </p:grpSpPr>
        <p:sp>
          <p:nvSpPr>
            <p:cNvPr id="558" name="Google Shape;558;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7"/>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60" name="Google Shape;560;p17"/>
          <p:cNvGrpSpPr/>
          <p:nvPr/>
        </p:nvGrpSpPr>
        <p:grpSpPr>
          <a:xfrm>
            <a:off x="15733223" y="8972550"/>
            <a:ext cx="327444" cy="327444"/>
            <a:chOff x="0" y="0"/>
            <a:chExt cx="812800" cy="812800"/>
          </a:xfrm>
        </p:grpSpPr>
        <p:sp>
          <p:nvSpPr>
            <p:cNvPr id="561" name="Google Shape;561;p17"/>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7"/>
            <p:cNvSpPr txBox="1"/>
            <p:nvPr/>
          </p:nvSpPr>
          <p:spPr>
            <a:xfrm>
              <a:off x="76200" y="57150"/>
              <a:ext cx="660400" cy="679450"/>
            </a:xfrm>
            <a:prstGeom prst="rect">
              <a:avLst/>
            </a:prstGeom>
            <a:noFill/>
            <a:ln>
              <a:noFill/>
            </a:ln>
          </p:spPr>
          <p:txBody>
            <a:bodyPr spcFirstLastPara="1" wrap="square" lIns="50800" tIns="50800" rIns="50800" bIns="50800" anchor="ctr" anchorCtr="0">
              <a:noAutofit/>
            </a:bodyPr>
            <a:lstStyle/>
            <a:p>
              <a:pPr marL="0" marR="0" lvl="0" indent="0" algn="ctr" rtl="0">
                <a:lnSpc>
                  <a:spcPct val="158833"/>
                </a:lnSpc>
                <a:spcBef>
                  <a:spcPts val="0"/>
                </a:spcBef>
                <a:spcAft>
                  <a:spcPts val="0"/>
                </a:spcAft>
                <a:buNone/>
              </a:pPr>
              <a:endParaRPr sz="1800">
                <a:solidFill>
                  <a:schemeClr val="dk1"/>
                </a:solidFill>
                <a:latin typeface="Calibri"/>
                <a:ea typeface="Calibri"/>
                <a:cs typeface="Calibri"/>
                <a:sym typeface="Calibri"/>
              </a:endParaRPr>
            </a:p>
          </p:txBody>
        </p:sp>
      </p:grpSp>
      <p:sp>
        <p:nvSpPr>
          <p:cNvPr id="563" name="Google Shape;563;p17"/>
          <p:cNvSpPr/>
          <p:nvPr/>
        </p:nvSpPr>
        <p:spPr>
          <a:xfrm>
            <a:off x="14035959" y="8123922"/>
            <a:ext cx="1697263" cy="1697257"/>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 name="Google Shape;100;p2"/>
          <p:cNvPicPr preferRelativeResize="0"/>
          <p:nvPr/>
        </p:nvPicPr>
        <p:blipFill>
          <a:blip r:embed="rId5">
            <a:alphaModFix/>
          </a:blip>
          <a:stretch>
            <a:fillRect/>
          </a:stretch>
        </p:blipFill>
        <p:spPr>
          <a:xfrm>
            <a:off x="1832222" y="3954480"/>
            <a:ext cx="3192813" cy="3034576"/>
          </a:xfrm>
          <a:prstGeom prst="rect">
            <a:avLst/>
          </a:prstGeom>
          <a:noFill/>
          <a:ln>
            <a:noFill/>
          </a:ln>
        </p:spPr>
      </p:pic>
      <p:pic>
        <p:nvPicPr>
          <p:cNvPr id="43" name="Google Shape;102;p2"/>
          <p:cNvPicPr preferRelativeResize="0"/>
          <p:nvPr/>
        </p:nvPicPr>
        <p:blipFill>
          <a:blip r:embed="rId6">
            <a:alphaModFix/>
          </a:blip>
          <a:stretch>
            <a:fillRect/>
          </a:stretch>
        </p:blipFill>
        <p:spPr>
          <a:xfrm>
            <a:off x="5459496" y="4034100"/>
            <a:ext cx="3100089" cy="3039918"/>
          </a:xfrm>
          <a:prstGeom prst="rect">
            <a:avLst/>
          </a:prstGeom>
          <a:noFill/>
          <a:ln>
            <a:noFill/>
          </a:ln>
        </p:spPr>
      </p:pic>
      <p:pic>
        <p:nvPicPr>
          <p:cNvPr id="48" name="Google Shape;101;p2"/>
          <p:cNvPicPr preferRelativeResize="0"/>
          <p:nvPr/>
        </p:nvPicPr>
        <p:blipFill>
          <a:blip r:embed="rId7">
            <a:alphaModFix/>
          </a:blip>
          <a:stretch>
            <a:fillRect/>
          </a:stretch>
        </p:blipFill>
        <p:spPr>
          <a:xfrm>
            <a:off x="8879564" y="3954480"/>
            <a:ext cx="3078392" cy="303543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grpSp>
        <p:nvGrpSpPr>
          <p:cNvPr id="569" name="Google Shape;569;p18"/>
          <p:cNvGrpSpPr/>
          <p:nvPr/>
        </p:nvGrpSpPr>
        <p:grpSpPr>
          <a:xfrm>
            <a:off x="5233421" y="2558563"/>
            <a:ext cx="8892659" cy="5045757"/>
            <a:chOff x="0" y="-38100"/>
            <a:chExt cx="2785608" cy="1580573"/>
          </a:xfrm>
        </p:grpSpPr>
        <p:sp>
          <p:nvSpPr>
            <p:cNvPr id="570" name="Google Shape;570;p18"/>
            <p:cNvSpPr/>
            <p:nvPr/>
          </p:nvSpPr>
          <p:spPr>
            <a:xfrm>
              <a:off x="0" y="0"/>
              <a:ext cx="2785608" cy="1542473"/>
            </a:xfrm>
            <a:custGeom>
              <a:avLst/>
              <a:gdLst/>
              <a:ahLst/>
              <a:cxnLst/>
              <a:rect l="l" t="t" r="r" b="b"/>
              <a:pathLst>
                <a:path w="2785608" h="1542473" extrusionOk="0">
                  <a:moveTo>
                    <a:pt x="39177" y="0"/>
                  </a:moveTo>
                  <a:lnTo>
                    <a:pt x="2746431" y="0"/>
                  </a:lnTo>
                  <a:cubicBezTo>
                    <a:pt x="2768068" y="0"/>
                    <a:pt x="2785608" y="17540"/>
                    <a:pt x="2785608" y="39177"/>
                  </a:cubicBezTo>
                  <a:lnTo>
                    <a:pt x="2785608" y="1503296"/>
                  </a:lnTo>
                  <a:cubicBezTo>
                    <a:pt x="2785608" y="1524933"/>
                    <a:pt x="2768068" y="1542473"/>
                    <a:pt x="2746431" y="1542473"/>
                  </a:cubicBezTo>
                  <a:lnTo>
                    <a:pt x="39177" y="1542473"/>
                  </a:lnTo>
                  <a:cubicBezTo>
                    <a:pt x="17540" y="1542473"/>
                    <a:pt x="0" y="1524933"/>
                    <a:pt x="0" y="1503296"/>
                  </a:cubicBezTo>
                  <a:lnTo>
                    <a:pt x="0" y="39177"/>
                  </a:lnTo>
                  <a:cubicBezTo>
                    <a:pt x="0" y="17540"/>
                    <a:pt x="17540" y="0"/>
                    <a:pt x="39177" y="0"/>
                  </a:cubicBezTo>
                  <a:close/>
                </a:path>
              </a:pathLst>
            </a:custGeom>
            <a:solidFill>
              <a:srgbClr val="31BB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8"/>
            <p:cNvSpPr txBox="1"/>
            <p:nvPr/>
          </p:nvSpPr>
          <p:spPr>
            <a:xfrm>
              <a:off x="0" y="-38100"/>
              <a:ext cx="2785608" cy="1580573"/>
            </a:xfrm>
            <a:prstGeom prst="rect">
              <a:avLst/>
            </a:prstGeom>
            <a:noFill/>
            <a:ln>
              <a:noFill/>
            </a:ln>
          </p:spPr>
          <p:txBody>
            <a:bodyPr spcFirstLastPara="1" wrap="square" lIns="50800" tIns="50800" rIns="50800" bIns="50800" anchor="ctr" anchorCtr="0">
              <a:noAutofit/>
            </a:bodyPr>
            <a:lstStyle/>
            <a:p>
              <a:pPr marL="0" marR="0" lvl="0" indent="0" algn="ctr" rtl="0">
                <a:lnSpc>
                  <a:spcPct val="168611"/>
                </a:lnSpc>
                <a:spcBef>
                  <a:spcPts val="0"/>
                </a:spcBef>
                <a:spcAft>
                  <a:spcPts val="0"/>
                </a:spcAft>
                <a:buNone/>
              </a:pPr>
              <a:endParaRPr sz="1800">
                <a:solidFill>
                  <a:schemeClr val="dk1"/>
                </a:solidFill>
                <a:latin typeface="Calibri"/>
                <a:ea typeface="Calibri"/>
                <a:cs typeface="Calibri"/>
                <a:sym typeface="Calibri"/>
              </a:endParaRPr>
            </a:p>
          </p:txBody>
        </p:sp>
      </p:grpSp>
      <p:sp>
        <p:nvSpPr>
          <p:cNvPr id="572" name="Google Shape;572;p18"/>
          <p:cNvSpPr/>
          <p:nvPr/>
        </p:nvSpPr>
        <p:spPr>
          <a:xfrm>
            <a:off x="9222246" y="6385721"/>
            <a:ext cx="323665" cy="323665"/>
          </a:xfrm>
          <a:custGeom>
            <a:avLst/>
            <a:gdLst/>
            <a:ahLst/>
            <a:cxnLst/>
            <a:rect l="l" t="t" r="r" b="b"/>
            <a:pathLst>
              <a:path w="323665" h="323665" extrusionOk="0">
                <a:moveTo>
                  <a:pt x="0" y="0"/>
                </a:moveTo>
                <a:lnTo>
                  <a:pt x="323665" y="0"/>
                </a:lnTo>
                <a:lnTo>
                  <a:pt x="323665" y="323665"/>
                </a:lnTo>
                <a:lnTo>
                  <a:pt x="0" y="323665"/>
                </a:lnTo>
                <a:lnTo>
                  <a:pt x="0" y="0"/>
                </a:lnTo>
                <a:close/>
              </a:path>
            </a:pathLst>
          </a:custGeom>
          <a:blipFill rotWithShape="1">
            <a:blip r:embed="rId3">
              <a:alphaModFix/>
            </a:blip>
            <a:stretch>
              <a:fillRect/>
            </a:stretch>
          </a:blipFill>
          <a:ln>
            <a:noFill/>
          </a:ln>
        </p:spPr>
      </p:sp>
      <p:sp>
        <p:nvSpPr>
          <p:cNvPr id="573" name="Google Shape;573;p18"/>
          <p:cNvSpPr/>
          <p:nvPr/>
        </p:nvSpPr>
        <p:spPr>
          <a:xfrm>
            <a:off x="9222246" y="5549952"/>
            <a:ext cx="323665" cy="323665"/>
          </a:xfrm>
          <a:custGeom>
            <a:avLst/>
            <a:gdLst/>
            <a:ahLst/>
            <a:cxnLst/>
            <a:rect l="l" t="t" r="r" b="b"/>
            <a:pathLst>
              <a:path w="323665" h="323665" extrusionOk="0">
                <a:moveTo>
                  <a:pt x="0" y="0"/>
                </a:moveTo>
                <a:lnTo>
                  <a:pt x="323665" y="0"/>
                </a:lnTo>
                <a:lnTo>
                  <a:pt x="323665" y="323665"/>
                </a:lnTo>
                <a:lnTo>
                  <a:pt x="0" y="323665"/>
                </a:lnTo>
                <a:lnTo>
                  <a:pt x="0" y="0"/>
                </a:lnTo>
                <a:close/>
              </a:path>
            </a:pathLst>
          </a:custGeom>
          <a:blipFill rotWithShape="1">
            <a:blip r:embed="rId4">
              <a:alphaModFix/>
            </a:blip>
            <a:stretch>
              <a:fillRect/>
            </a:stretch>
          </a:blipFill>
          <a:ln>
            <a:noFill/>
          </a:ln>
        </p:spPr>
      </p:sp>
      <p:sp>
        <p:nvSpPr>
          <p:cNvPr id="574" name="Google Shape;574;p18"/>
          <p:cNvSpPr/>
          <p:nvPr/>
        </p:nvSpPr>
        <p:spPr>
          <a:xfrm>
            <a:off x="9222246" y="5980242"/>
            <a:ext cx="323520" cy="323665"/>
          </a:xfrm>
          <a:custGeom>
            <a:avLst/>
            <a:gdLst/>
            <a:ahLst/>
            <a:cxnLst/>
            <a:rect l="l" t="t" r="r" b="b"/>
            <a:pathLst>
              <a:path w="323520" h="323665" extrusionOk="0">
                <a:moveTo>
                  <a:pt x="0" y="0"/>
                </a:moveTo>
                <a:lnTo>
                  <a:pt x="323519" y="0"/>
                </a:lnTo>
                <a:lnTo>
                  <a:pt x="323519" y="323665"/>
                </a:lnTo>
                <a:lnTo>
                  <a:pt x="0" y="323665"/>
                </a:lnTo>
                <a:lnTo>
                  <a:pt x="0" y="0"/>
                </a:lnTo>
                <a:close/>
              </a:path>
            </a:pathLst>
          </a:custGeom>
          <a:blipFill rotWithShape="1">
            <a:blip r:embed="rId5">
              <a:alphaModFix/>
            </a:blip>
            <a:stretch>
              <a:fillRect/>
            </a:stretch>
          </a:blipFill>
          <a:ln>
            <a:noFill/>
          </a:ln>
        </p:spPr>
      </p:sp>
      <p:sp>
        <p:nvSpPr>
          <p:cNvPr id="575" name="Google Shape;575;p18"/>
          <p:cNvSpPr/>
          <p:nvPr/>
        </p:nvSpPr>
        <p:spPr>
          <a:xfrm>
            <a:off x="9222246" y="5142256"/>
            <a:ext cx="323665" cy="323665"/>
          </a:xfrm>
          <a:custGeom>
            <a:avLst/>
            <a:gdLst/>
            <a:ahLst/>
            <a:cxnLst/>
            <a:rect l="l" t="t" r="r" b="b"/>
            <a:pathLst>
              <a:path w="323665" h="323665" extrusionOk="0">
                <a:moveTo>
                  <a:pt x="0" y="0"/>
                </a:moveTo>
                <a:lnTo>
                  <a:pt x="323665" y="0"/>
                </a:lnTo>
                <a:lnTo>
                  <a:pt x="323665" y="323665"/>
                </a:lnTo>
                <a:lnTo>
                  <a:pt x="0" y="323665"/>
                </a:lnTo>
                <a:lnTo>
                  <a:pt x="0" y="0"/>
                </a:lnTo>
                <a:close/>
              </a:path>
            </a:pathLst>
          </a:custGeom>
          <a:blipFill rotWithShape="1">
            <a:blip r:embed="rId6">
              <a:alphaModFix/>
            </a:blip>
            <a:stretch>
              <a:fillRect/>
            </a:stretch>
          </a:blipFill>
          <a:ln>
            <a:noFill/>
          </a:ln>
        </p:spPr>
      </p:sp>
      <p:sp>
        <p:nvSpPr>
          <p:cNvPr id="576" name="Google Shape;576;p18"/>
          <p:cNvSpPr/>
          <p:nvPr/>
        </p:nvSpPr>
        <p:spPr>
          <a:xfrm>
            <a:off x="2601944" y="2100713"/>
            <a:ext cx="6083085" cy="6083085"/>
          </a:xfrm>
          <a:custGeom>
            <a:avLst/>
            <a:gdLst/>
            <a:ahLst/>
            <a:cxnLst/>
            <a:rect l="l" t="t" r="r" b="b"/>
            <a:pathLst>
              <a:path w="6083085" h="6083085" extrusionOk="0">
                <a:moveTo>
                  <a:pt x="0" y="0"/>
                </a:moveTo>
                <a:lnTo>
                  <a:pt x="6083085" y="0"/>
                </a:lnTo>
                <a:lnTo>
                  <a:pt x="6083085" y="6083086"/>
                </a:lnTo>
                <a:lnTo>
                  <a:pt x="0" y="6083086"/>
                </a:lnTo>
                <a:lnTo>
                  <a:pt x="0" y="0"/>
                </a:lnTo>
                <a:close/>
              </a:path>
            </a:pathLst>
          </a:custGeom>
          <a:blipFill rotWithShape="1">
            <a:blip r:embed="rId7">
              <a:alphaModFix/>
            </a:blip>
            <a:stretch>
              <a:fillRect/>
            </a:stretch>
          </a:blipFill>
          <a:ln>
            <a:noFill/>
          </a:ln>
        </p:spPr>
      </p:sp>
      <p:sp>
        <p:nvSpPr>
          <p:cNvPr id="577" name="Google Shape;577;p18"/>
          <p:cNvSpPr/>
          <p:nvPr/>
        </p:nvSpPr>
        <p:spPr>
          <a:xfrm>
            <a:off x="3168390" y="2667169"/>
            <a:ext cx="4950194" cy="4950173"/>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solidFill>
            <a:srgbClr val="F8F8F8"/>
          </a:solidFill>
          <a:ln w="1270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8" name="Google Shape;578;p18"/>
          <p:cNvGrpSpPr/>
          <p:nvPr/>
        </p:nvGrpSpPr>
        <p:grpSpPr>
          <a:xfrm>
            <a:off x="8931287" y="4410587"/>
            <a:ext cx="42696" cy="2604089"/>
            <a:chOff x="0" y="-38100"/>
            <a:chExt cx="13374" cy="815726"/>
          </a:xfrm>
        </p:grpSpPr>
        <p:sp>
          <p:nvSpPr>
            <p:cNvPr id="579" name="Google Shape;579;p18"/>
            <p:cNvSpPr/>
            <p:nvPr/>
          </p:nvSpPr>
          <p:spPr>
            <a:xfrm>
              <a:off x="0" y="0"/>
              <a:ext cx="13374" cy="777626"/>
            </a:xfrm>
            <a:custGeom>
              <a:avLst/>
              <a:gdLst/>
              <a:ahLst/>
              <a:cxnLst/>
              <a:rect l="l" t="t" r="r" b="b"/>
              <a:pathLst>
                <a:path w="13374" h="777626" extrusionOk="0">
                  <a:moveTo>
                    <a:pt x="0" y="0"/>
                  </a:moveTo>
                  <a:lnTo>
                    <a:pt x="13374" y="0"/>
                  </a:lnTo>
                  <a:lnTo>
                    <a:pt x="13374" y="777626"/>
                  </a:lnTo>
                  <a:lnTo>
                    <a:pt x="0" y="777626"/>
                  </a:lnTo>
                  <a:close/>
                </a:path>
              </a:pathLst>
            </a:custGeom>
            <a:solidFill>
              <a:srgbClr val="FFFFFF"/>
            </a:solidFill>
            <a:ln>
              <a:noFill/>
            </a:ln>
          </p:spPr>
        </p:sp>
        <p:sp>
          <p:nvSpPr>
            <p:cNvPr id="580" name="Google Shape;580;p18"/>
            <p:cNvSpPr txBox="1"/>
            <p:nvPr/>
          </p:nvSpPr>
          <p:spPr>
            <a:xfrm>
              <a:off x="0" y="-38100"/>
              <a:ext cx="13374" cy="815726"/>
            </a:xfrm>
            <a:prstGeom prst="rect">
              <a:avLst/>
            </a:prstGeom>
            <a:noFill/>
            <a:ln>
              <a:noFill/>
            </a:ln>
          </p:spPr>
          <p:txBody>
            <a:bodyPr spcFirstLastPara="1" wrap="square" lIns="50800" tIns="50800" rIns="50800" bIns="50800" anchor="ctr" anchorCtr="0">
              <a:noAutofit/>
            </a:bodyPr>
            <a:lstStyle/>
            <a:p>
              <a:pPr marL="0" marR="0" lvl="0" indent="0" algn="ctr" rtl="0">
                <a:lnSpc>
                  <a:spcPct val="168611"/>
                </a:lnSpc>
                <a:spcBef>
                  <a:spcPts val="0"/>
                </a:spcBef>
                <a:spcAft>
                  <a:spcPts val="0"/>
                </a:spcAft>
                <a:buNone/>
              </a:pPr>
              <a:endParaRPr sz="1800">
                <a:solidFill>
                  <a:schemeClr val="dk1"/>
                </a:solidFill>
                <a:latin typeface="Calibri"/>
                <a:ea typeface="Calibri"/>
                <a:cs typeface="Calibri"/>
                <a:sym typeface="Calibri"/>
              </a:endParaRPr>
            </a:p>
          </p:txBody>
        </p:sp>
      </p:grpSp>
      <p:sp>
        <p:nvSpPr>
          <p:cNvPr id="581" name="Google Shape;581;p18"/>
          <p:cNvSpPr txBox="1"/>
          <p:nvPr/>
        </p:nvSpPr>
        <p:spPr>
          <a:xfrm>
            <a:off x="9672276" y="5951667"/>
            <a:ext cx="3857414" cy="289007"/>
          </a:xfrm>
          <a:prstGeom prst="rect">
            <a:avLst/>
          </a:prstGeom>
          <a:noFill/>
          <a:ln>
            <a:noFill/>
          </a:ln>
        </p:spPr>
        <p:txBody>
          <a:bodyPr spcFirstLastPara="1" wrap="square" lIns="0" tIns="0" rIns="0" bIns="0" anchor="t" anchorCtr="0">
            <a:spAutoFit/>
          </a:bodyPr>
          <a:lstStyle/>
          <a:p>
            <a:pPr marL="0" marR="0" lvl="0" indent="0" algn="l" rtl="0">
              <a:lnSpc>
                <a:spcPct val="140114"/>
              </a:lnSpc>
              <a:spcBef>
                <a:spcPts val="0"/>
              </a:spcBef>
              <a:spcAft>
                <a:spcPts val="0"/>
              </a:spcAft>
              <a:buNone/>
            </a:pPr>
            <a:r>
              <a:rPr lang="en-US" sz="1745">
                <a:solidFill>
                  <a:srgbClr val="FFFFFF"/>
                </a:solidFill>
                <a:latin typeface="Arial"/>
                <a:ea typeface="Arial"/>
                <a:cs typeface="Arial"/>
                <a:sym typeface="Arial"/>
              </a:rPr>
              <a:t>Website</a:t>
            </a:r>
            <a:endParaRPr/>
          </a:p>
        </p:txBody>
      </p:sp>
      <p:sp>
        <p:nvSpPr>
          <p:cNvPr id="582" name="Google Shape;582;p18"/>
          <p:cNvSpPr txBox="1"/>
          <p:nvPr/>
        </p:nvSpPr>
        <p:spPr>
          <a:xfrm>
            <a:off x="9672276" y="5521377"/>
            <a:ext cx="3760379" cy="288529"/>
          </a:xfrm>
          <a:prstGeom prst="rect">
            <a:avLst/>
          </a:prstGeom>
          <a:noFill/>
          <a:ln>
            <a:noFill/>
          </a:ln>
        </p:spPr>
        <p:txBody>
          <a:bodyPr spcFirstLastPara="1" wrap="square" lIns="0" tIns="0" rIns="0" bIns="0" anchor="t" anchorCtr="0">
            <a:spAutoFit/>
          </a:bodyPr>
          <a:lstStyle/>
          <a:p>
            <a:pPr marL="0" marR="0" lvl="0" indent="0" algn="l" rtl="0">
              <a:lnSpc>
                <a:spcPct val="140114"/>
              </a:lnSpc>
              <a:spcBef>
                <a:spcPts val="0"/>
              </a:spcBef>
              <a:spcAft>
                <a:spcPts val="0"/>
              </a:spcAft>
              <a:buNone/>
            </a:pPr>
            <a:r>
              <a:rPr lang="en-US" sz="1745">
                <a:solidFill>
                  <a:srgbClr val="FFFFFF"/>
                </a:solidFill>
                <a:latin typeface="Arial"/>
                <a:ea typeface="Arial"/>
                <a:cs typeface="Arial"/>
                <a:sym typeface="Arial"/>
              </a:rPr>
              <a:t>Email id</a:t>
            </a:r>
            <a:endParaRPr/>
          </a:p>
        </p:txBody>
      </p:sp>
      <p:sp>
        <p:nvSpPr>
          <p:cNvPr id="583" name="Google Shape;583;p18"/>
          <p:cNvSpPr txBox="1"/>
          <p:nvPr/>
        </p:nvSpPr>
        <p:spPr>
          <a:xfrm>
            <a:off x="9672276" y="6365522"/>
            <a:ext cx="3390341" cy="288529"/>
          </a:xfrm>
          <a:prstGeom prst="rect">
            <a:avLst/>
          </a:prstGeom>
          <a:noFill/>
          <a:ln>
            <a:noFill/>
          </a:ln>
        </p:spPr>
        <p:txBody>
          <a:bodyPr spcFirstLastPara="1" wrap="square" lIns="0" tIns="0" rIns="0" bIns="0" anchor="t" anchorCtr="0">
            <a:spAutoFit/>
          </a:bodyPr>
          <a:lstStyle/>
          <a:p>
            <a:pPr marL="0" marR="0" lvl="0" indent="0" algn="l" rtl="0">
              <a:lnSpc>
                <a:spcPct val="140114"/>
              </a:lnSpc>
              <a:spcBef>
                <a:spcPts val="0"/>
              </a:spcBef>
              <a:spcAft>
                <a:spcPts val="0"/>
              </a:spcAft>
              <a:buNone/>
            </a:pPr>
            <a:r>
              <a:rPr lang="en-US" sz="1745">
                <a:solidFill>
                  <a:srgbClr val="FFFFFF"/>
                </a:solidFill>
                <a:latin typeface="Arial"/>
                <a:ea typeface="Arial"/>
                <a:cs typeface="Arial"/>
                <a:sym typeface="Arial"/>
              </a:rPr>
              <a:t>Address</a:t>
            </a:r>
            <a:endParaRPr/>
          </a:p>
        </p:txBody>
      </p:sp>
      <p:sp>
        <p:nvSpPr>
          <p:cNvPr id="584" name="Google Shape;584;p18"/>
          <p:cNvSpPr txBox="1"/>
          <p:nvPr/>
        </p:nvSpPr>
        <p:spPr>
          <a:xfrm>
            <a:off x="9672275" y="5126700"/>
            <a:ext cx="2523600" cy="268800"/>
          </a:xfrm>
          <a:prstGeom prst="rect">
            <a:avLst/>
          </a:prstGeom>
          <a:noFill/>
          <a:ln>
            <a:noFill/>
          </a:ln>
        </p:spPr>
        <p:txBody>
          <a:bodyPr spcFirstLastPara="1" wrap="square" lIns="0" tIns="0" rIns="0" bIns="0" anchor="t" anchorCtr="0">
            <a:spAutoFit/>
          </a:bodyPr>
          <a:lstStyle/>
          <a:p>
            <a:pPr marL="0" marR="0" lvl="0" indent="0" algn="l" rtl="0">
              <a:lnSpc>
                <a:spcPct val="140114"/>
              </a:lnSpc>
              <a:spcBef>
                <a:spcPts val="0"/>
              </a:spcBef>
              <a:spcAft>
                <a:spcPts val="0"/>
              </a:spcAft>
              <a:buNone/>
            </a:pPr>
            <a:r>
              <a:rPr lang="en-US" sz="1745">
                <a:solidFill>
                  <a:srgbClr val="FFFFFF"/>
                </a:solidFill>
                <a:latin typeface="Arial"/>
                <a:ea typeface="Arial"/>
                <a:cs typeface="Arial"/>
                <a:sym typeface="Arial"/>
              </a:rPr>
              <a:t>Cell phone - </a:t>
            </a:r>
            <a:r>
              <a:rPr lang="en-US" sz="1745">
                <a:solidFill>
                  <a:srgbClr val="FFFFFF"/>
                </a:solidFill>
              </a:rPr>
              <a:t>Landline</a:t>
            </a:r>
            <a:endParaRPr/>
          </a:p>
        </p:txBody>
      </p:sp>
      <p:sp>
        <p:nvSpPr>
          <p:cNvPr id="585" name="Google Shape;585;p18"/>
          <p:cNvSpPr txBox="1"/>
          <p:nvPr/>
        </p:nvSpPr>
        <p:spPr>
          <a:xfrm>
            <a:off x="9183021" y="4475066"/>
            <a:ext cx="3374058" cy="495741"/>
          </a:xfrm>
          <a:prstGeom prst="rect">
            <a:avLst/>
          </a:prstGeom>
          <a:noFill/>
          <a:ln>
            <a:noFill/>
          </a:ln>
        </p:spPr>
        <p:txBody>
          <a:bodyPr spcFirstLastPara="1" wrap="square" lIns="0" tIns="0" rIns="0" bIns="0" anchor="t" anchorCtr="0">
            <a:spAutoFit/>
          </a:bodyPr>
          <a:lstStyle/>
          <a:p>
            <a:pPr marL="0" marR="0" lvl="0" indent="0" algn="l" rtl="0">
              <a:lnSpc>
                <a:spcPct val="139986"/>
              </a:lnSpc>
              <a:spcBef>
                <a:spcPts val="0"/>
              </a:spcBef>
              <a:spcAft>
                <a:spcPts val="0"/>
              </a:spcAft>
              <a:buNone/>
            </a:pPr>
            <a:r>
              <a:rPr lang="en-US" sz="2956" b="1">
                <a:solidFill>
                  <a:srgbClr val="FFFFFF"/>
                </a:solidFill>
                <a:latin typeface="Arial"/>
                <a:ea typeface="Arial"/>
                <a:cs typeface="Arial"/>
                <a:sym typeface="Arial"/>
              </a:rPr>
              <a:t>16. Contact Info</a:t>
            </a:r>
            <a:endParaRPr/>
          </a:p>
        </p:txBody>
      </p:sp>
      <p:sp>
        <p:nvSpPr>
          <p:cNvPr id="586" name="Google Shape;586;p18"/>
          <p:cNvSpPr txBox="1"/>
          <p:nvPr/>
        </p:nvSpPr>
        <p:spPr>
          <a:xfrm>
            <a:off x="8372230" y="2948548"/>
            <a:ext cx="4690500" cy="782100"/>
          </a:xfrm>
          <a:prstGeom prst="rect">
            <a:avLst/>
          </a:prstGeom>
          <a:noFill/>
          <a:ln>
            <a:noFill/>
          </a:ln>
        </p:spPr>
        <p:txBody>
          <a:bodyPr spcFirstLastPara="1" wrap="square" lIns="0" tIns="0" rIns="0" bIns="0" anchor="t" anchorCtr="0">
            <a:spAutoFit/>
          </a:bodyPr>
          <a:lstStyle/>
          <a:p>
            <a:pPr marL="0" marR="0" lvl="0" indent="0" algn="l" rtl="0">
              <a:lnSpc>
                <a:spcPct val="140023"/>
              </a:lnSpc>
              <a:spcBef>
                <a:spcPts val="0"/>
              </a:spcBef>
              <a:spcAft>
                <a:spcPts val="0"/>
              </a:spcAft>
              <a:buNone/>
            </a:pPr>
            <a:r>
              <a:rPr lang="en-US" sz="5082" b="1">
                <a:solidFill>
                  <a:srgbClr val="FFFFFF"/>
                </a:solidFill>
                <a:latin typeface="Arial"/>
                <a:ea typeface="Arial"/>
                <a:cs typeface="Arial"/>
                <a:sym typeface="Arial"/>
              </a:rPr>
              <a:t>THANK </a:t>
            </a:r>
            <a:r>
              <a:rPr lang="en-US" sz="5082" b="1">
                <a:solidFill>
                  <a:srgbClr val="FFFFFF"/>
                </a:solidFill>
              </a:rPr>
              <a:t>Y</a:t>
            </a:r>
            <a:r>
              <a:rPr lang="en-US" sz="5082" b="1">
                <a:solidFill>
                  <a:srgbClr val="FFFFFF"/>
                </a:solidFill>
                <a:latin typeface="Arial"/>
                <a:ea typeface="Arial"/>
                <a:cs typeface="Arial"/>
                <a:sym typeface="Arial"/>
              </a:rPr>
              <a:t>OU</a:t>
            </a:r>
            <a:endParaRPr/>
          </a:p>
        </p:txBody>
      </p:sp>
      <p:grpSp>
        <p:nvGrpSpPr>
          <p:cNvPr id="587" name="Google Shape;587;p18"/>
          <p:cNvGrpSpPr/>
          <p:nvPr/>
        </p:nvGrpSpPr>
        <p:grpSpPr>
          <a:xfrm>
            <a:off x="15811589" y="8007246"/>
            <a:ext cx="4201427" cy="4201427"/>
            <a:chOff x="0" y="0"/>
            <a:chExt cx="812800" cy="812800"/>
          </a:xfrm>
        </p:grpSpPr>
        <p:sp>
          <p:nvSpPr>
            <p:cNvPr id="588" name="Google Shape;588;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742950" cap="sq" cmpd="sng">
              <a:solidFill>
                <a:srgbClr val="E2E34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8"/>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90" name="Google Shape;590;p18"/>
          <p:cNvGrpSpPr/>
          <p:nvPr/>
        </p:nvGrpSpPr>
        <p:grpSpPr>
          <a:xfrm>
            <a:off x="-1868494" y="-2100713"/>
            <a:ext cx="4201427" cy="4201427"/>
            <a:chOff x="0" y="0"/>
            <a:chExt cx="812800" cy="812800"/>
          </a:xfrm>
        </p:grpSpPr>
        <p:sp>
          <p:nvSpPr>
            <p:cNvPr id="591" name="Google Shape;591;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cmpd="sng">
              <a:solidFill>
                <a:srgbClr val="E2E34F"/>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8"/>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93" name="Google Shape;593;p18"/>
          <p:cNvGrpSpPr/>
          <p:nvPr/>
        </p:nvGrpSpPr>
        <p:grpSpPr>
          <a:xfrm>
            <a:off x="16067950" y="6633635"/>
            <a:ext cx="762083" cy="762083"/>
            <a:chOff x="0" y="0"/>
            <a:chExt cx="812800" cy="812800"/>
          </a:xfrm>
        </p:grpSpPr>
        <p:sp>
          <p:nvSpPr>
            <p:cNvPr id="594" name="Google Shape;594;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8"/>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596" name="Google Shape;596;p18"/>
          <p:cNvGrpSpPr/>
          <p:nvPr/>
        </p:nvGrpSpPr>
        <p:grpSpPr>
          <a:xfrm>
            <a:off x="-575233" y="9258300"/>
            <a:ext cx="1614906" cy="1614906"/>
            <a:chOff x="0" y="0"/>
            <a:chExt cx="812800" cy="812800"/>
          </a:xfrm>
        </p:grpSpPr>
        <p:sp>
          <p:nvSpPr>
            <p:cNvPr id="597" name="Google Shape;597;p18"/>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88C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8"/>
            <p:cNvSpPr txBox="1"/>
            <p:nvPr/>
          </p:nvSpPr>
          <p:spPr>
            <a:xfrm>
              <a:off x="76200" y="38100"/>
              <a:ext cx="660400" cy="698500"/>
            </a:xfrm>
            <a:prstGeom prst="rect">
              <a:avLst/>
            </a:prstGeom>
            <a:noFill/>
            <a:ln>
              <a:noFill/>
            </a:ln>
          </p:spPr>
          <p:txBody>
            <a:bodyPr spcFirstLastPara="1" wrap="square" lIns="50800" tIns="50800" rIns="50800" bIns="50800" anchor="ctr" anchorCtr="0">
              <a:noAutofit/>
            </a:bodyPr>
            <a:lstStyle/>
            <a:p>
              <a:pPr marL="0" marR="0" lvl="0" indent="0" algn="ctr" rtl="0">
                <a:lnSpc>
                  <a:spcPct val="153111"/>
                </a:lnSpc>
                <a:spcBef>
                  <a:spcPts val="0"/>
                </a:spcBef>
                <a:spcAft>
                  <a:spcPts val="0"/>
                </a:spcAft>
                <a:buNone/>
              </a:pPr>
              <a:endParaRPr sz="1800">
                <a:solidFill>
                  <a:schemeClr val="dk1"/>
                </a:solidFill>
                <a:latin typeface="Calibri"/>
                <a:ea typeface="Calibri"/>
                <a:cs typeface="Calibri"/>
                <a:sym typeface="Calibri"/>
              </a:endParaRPr>
            </a:p>
          </p:txBody>
        </p:sp>
      </p:grpSp>
      <p:sp>
        <p:nvSpPr>
          <p:cNvPr id="599" name="Google Shape;599;p18"/>
          <p:cNvSpPr txBox="1"/>
          <p:nvPr/>
        </p:nvSpPr>
        <p:spPr>
          <a:xfrm>
            <a:off x="3298293" y="4213872"/>
            <a:ext cx="4690387" cy="1766370"/>
          </a:xfrm>
          <a:prstGeom prst="rect">
            <a:avLst/>
          </a:prstGeom>
          <a:noFill/>
          <a:ln>
            <a:noFill/>
          </a:ln>
        </p:spPr>
        <p:txBody>
          <a:bodyPr spcFirstLastPara="1" wrap="square" lIns="0" tIns="0" rIns="0" bIns="0" anchor="t" anchorCtr="0">
            <a:spAutoFit/>
          </a:bodyPr>
          <a:lstStyle/>
          <a:p>
            <a:pPr marL="0" marR="0" lvl="0" indent="0" algn="ctr" rtl="0">
              <a:lnSpc>
                <a:spcPct val="140023"/>
              </a:lnSpc>
              <a:spcBef>
                <a:spcPts val="0"/>
              </a:spcBef>
              <a:spcAft>
                <a:spcPts val="0"/>
              </a:spcAft>
              <a:buNone/>
            </a:pPr>
            <a:r>
              <a:rPr lang="en-US" sz="5082" b="1">
                <a:solidFill>
                  <a:srgbClr val="000000"/>
                </a:solidFill>
                <a:latin typeface="Roboto Condensed"/>
                <a:ea typeface="Roboto Condensed"/>
                <a:cs typeface="Roboto Condensed"/>
                <a:sym typeface="Roboto Condensed"/>
              </a:rPr>
              <a:t>Place</a:t>
            </a:r>
            <a:endParaRPr/>
          </a:p>
          <a:p>
            <a:pPr marL="0" marR="0" lvl="0" indent="0" algn="ctr" rtl="0">
              <a:lnSpc>
                <a:spcPct val="140023"/>
              </a:lnSpc>
              <a:spcBef>
                <a:spcPts val="0"/>
              </a:spcBef>
              <a:spcAft>
                <a:spcPts val="0"/>
              </a:spcAft>
              <a:buNone/>
            </a:pPr>
            <a:r>
              <a:rPr lang="en-US" sz="5082" b="1">
                <a:solidFill>
                  <a:srgbClr val="000000"/>
                </a:solidFill>
                <a:latin typeface="Roboto Condensed"/>
                <a:ea typeface="Roboto Condensed"/>
                <a:cs typeface="Roboto Condensed"/>
                <a:sym typeface="Roboto Condensed"/>
              </a:rPr>
              <a:t>LOGO</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TotalTime>
  <Words>1248</Words>
  <Application>Microsoft Office PowerPoint</Application>
  <PresentationFormat>Custom</PresentationFormat>
  <Paragraphs>233</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Century Gothic</vt:lpstr>
      <vt:lpstr>Roboto Condensed</vt:lpstr>
      <vt:lpstr>Arial</vt:lpstr>
      <vt:lpstr>Teko</vt:lpstr>
      <vt:lpstr>Quicksand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Andeel Ali</dc:creator>
  <cp:lastModifiedBy>Andeel ali</cp:lastModifiedBy>
  <cp:revision>4</cp:revision>
  <dcterms:created xsi:type="dcterms:W3CDTF">2006-08-16T00:00:00Z</dcterms:created>
  <dcterms:modified xsi:type="dcterms:W3CDTF">2026-05-18T07:35:14Z</dcterms:modified>
</cp:coreProperties>
</file>